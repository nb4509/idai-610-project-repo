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6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72" d="100"/>
          <a:sy n="172" d="100"/>
        </p:scale>
        <p:origin x="1116" y="-77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4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5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6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53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20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33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8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5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46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34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97405-5B46-46A1-81B3-38EF90EB51F6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AA7B6-F7CE-43D2-9212-D222E9EE2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6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3AFB0F-78B3-6BD2-BB37-A937C414F5FA}"/>
              </a:ext>
            </a:extLst>
          </p:cNvPr>
          <p:cNvSpPr/>
          <p:nvPr/>
        </p:nvSpPr>
        <p:spPr>
          <a:xfrm>
            <a:off x="0" y="-1"/>
            <a:ext cx="6858000" cy="12081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black and orange sign with white text&#10;&#10;AI-generated content may be incorrect.">
            <a:extLst>
              <a:ext uri="{FF2B5EF4-FFF2-40B4-BE49-F238E27FC236}">
                <a16:creationId xmlns:a16="http://schemas.microsoft.com/office/drawing/2014/main" id="{78D549D7-82D1-DCDD-02A2-77E63DF4F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233" y="91268"/>
            <a:ext cx="879520" cy="10255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E9DA2E-F367-9F27-F3FC-E183F69C4FA8}"/>
              </a:ext>
            </a:extLst>
          </p:cNvPr>
          <p:cNvSpPr txBox="1"/>
          <p:nvPr/>
        </p:nvSpPr>
        <p:spPr>
          <a:xfrm>
            <a:off x="188421" y="103508"/>
            <a:ext cx="544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Benchmarking Starfish Optimization Algorithm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B654D8-67C5-E5B2-4128-B3AEAAD9CA69}"/>
              </a:ext>
            </a:extLst>
          </p:cNvPr>
          <p:cNvSpPr/>
          <p:nvPr/>
        </p:nvSpPr>
        <p:spPr>
          <a:xfrm>
            <a:off x="0" y="1208117"/>
            <a:ext cx="6858000" cy="266284"/>
          </a:xfrm>
          <a:prstGeom prst="rect">
            <a:avLst/>
          </a:prstGeom>
          <a:solidFill>
            <a:srgbClr val="F76902"/>
          </a:solidFill>
          <a:ln>
            <a:solidFill>
              <a:srgbClr val="F769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1E694-6168-3AF1-E6CF-5094145CF828}"/>
              </a:ext>
            </a:extLst>
          </p:cNvPr>
          <p:cNvSpPr txBox="1"/>
          <p:nvPr/>
        </p:nvSpPr>
        <p:spPr>
          <a:xfrm>
            <a:off x="1428403" y="1200789"/>
            <a:ext cx="4001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Nicholas Boulos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59E84-EA7C-E8EE-059C-0C55508030FE}"/>
              </a:ext>
            </a:extLst>
          </p:cNvPr>
          <p:cNvSpPr txBox="1"/>
          <p:nvPr/>
        </p:nvSpPr>
        <p:spPr>
          <a:xfrm>
            <a:off x="249382" y="1662545"/>
            <a:ext cx="228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76902"/>
                </a:solidFill>
                <a:latin typeface="Neue Haas Grotesk Text Pro" panose="020B0504020202020204" pitchFamily="34" charset="0"/>
              </a:rPr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FA86AD-2305-F8DA-6777-7365BB7847E0}"/>
              </a:ext>
            </a:extLst>
          </p:cNvPr>
          <p:cNvSpPr txBox="1"/>
          <p:nvPr/>
        </p:nvSpPr>
        <p:spPr>
          <a:xfrm>
            <a:off x="249382" y="4389120"/>
            <a:ext cx="228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76902"/>
                </a:solidFill>
                <a:latin typeface="Neue Haas Grotesk Text Pro" panose="020B0504020202020204" pitchFamily="34" charset="0"/>
              </a:rPr>
              <a:t>Methodology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7EACEB-B575-CC17-B2DD-CFE3893D80C5}"/>
              </a:ext>
            </a:extLst>
          </p:cNvPr>
          <p:cNvSpPr txBox="1"/>
          <p:nvPr/>
        </p:nvSpPr>
        <p:spPr>
          <a:xfrm>
            <a:off x="249381" y="6463577"/>
            <a:ext cx="228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76902"/>
                </a:solidFill>
                <a:latin typeface="Neue Haas Grotesk Text Pro" panose="020B0504020202020204" pitchFamily="34" charset="0"/>
              </a:rPr>
              <a:t>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0B32F-EBC2-7CD7-E107-598D61378212}"/>
              </a:ext>
            </a:extLst>
          </p:cNvPr>
          <p:cNvSpPr txBox="1"/>
          <p:nvPr/>
        </p:nvSpPr>
        <p:spPr>
          <a:xfrm>
            <a:off x="4415447" y="8133158"/>
            <a:ext cx="228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76902"/>
                </a:solidFill>
                <a:latin typeface="Neue Haas Grotesk Text Pro" panose="020B0504020202020204" pitchFamily="34" charset="0"/>
              </a:rPr>
              <a:t>Discussion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FC2B7D-95A5-F49B-BA8E-FBCAB2D40653}"/>
              </a:ext>
            </a:extLst>
          </p:cNvPr>
          <p:cNvSpPr txBox="1"/>
          <p:nvPr/>
        </p:nvSpPr>
        <p:spPr>
          <a:xfrm>
            <a:off x="106679" y="11388961"/>
            <a:ext cx="4470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76902"/>
                </a:solidFill>
                <a:latin typeface="Neue Haas Grotesk Text Pro" panose="020B0504020202020204" pitchFamily="34" charset="0"/>
              </a:rPr>
              <a:t>Acknowledgments and Citations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76C2BB-897A-8EF1-4166-9AD5FB1C0BA3}"/>
              </a:ext>
            </a:extLst>
          </p:cNvPr>
          <p:cNvSpPr txBox="1"/>
          <p:nvPr/>
        </p:nvSpPr>
        <p:spPr>
          <a:xfrm>
            <a:off x="249381" y="6832909"/>
            <a:ext cx="2770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Neue Haas Grotesk Text Pro" panose="020B0504020202020204" pitchFamily="34" charset="0"/>
              </a:rPr>
              <a:t>Sphere Function Results:</a:t>
            </a:r>
          </a:p>
        </p:txBody>
      </p:sp>
      <p:pic>
        <p:nvPicPr>
          <p:cNvPr id="22" name="Picture 21" descr="A graph of a function&#10;&#10;AI-generated content may be incorrect.">
            <a:extLst>
              <a:ext uri="{FF2B5EF4-FFF2-40B4-BE49-F238E27FC236}">
                <a16:creationId xmlns:a16="http://schemas.microsoft.com/office/drawing/2014/main" id="{4EB87952-7AA3-BBC6-B328-F046318AA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80" y="7115695"/>
            <a:ext cx="2653146" cy="159188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8185EFE-86FD-9E57-C2E7-5026DD11F471}"/>
              </a:ext>
            </a:extLst>
          </p:cNvPr>
          <p:cNvSpPr txBox="1"/>
          <p:nvPr/>
        </p:nvSpPr>
        <p:spPr>
          <a:xfrm>
            <a:off x="188421" y="8695436"/>
            <a:ext cx="2770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Neue Haas Grotesk Text Pro" panose="020B0504020202020204" pitchFamily="34" charset="0"/>
              </a:rPr>
              <a:t>WSN Problem Results:</a:t>
            </a:r>
          </a:p>
        </p:txBody>
      </p:sp>
      <p:pic>
        <p:nvPicPr>
          <p:cNvPr id="25" name="Picture 24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6D537DD3-2088-1501-2F95-9539DAA72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72435"/>
            <a:ext cx="2103120" cy="1261872"/>
          </a:xfrm>
          <a:prstGeom prst="rect">
            <a:avLst/>
          </a:prstGeom>
        </p:spPr>
      </p:pic>
      <p:pic>
        <p:nvPicPr>
          <p:cNvPr id="27" name="Picture 26" descr="A diagram of a fitness graph&#10;&#10;AI-generated content may be incorrect.">
            <a:extLst>
              <a:ext uri="{FF2B5EF4-FFF2-40B4-BE49-F238E27FC236}">
                <a16:creationId xmlns:a16="http://schemas.microsoft.com/office/drawing/2014/main" id="{2CC2FF54-BC03-5E53-CC7A-2B74AF16A3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20" y="9880600"/>
            <a:ext cx="2006632" cy="1504974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44F464D-D892-DF45-6968-3F362F857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736352"/>
              </p:ext>
            </p:extLst>
          </p:nvPr>
        </p:nvGraphicFramePr>
        <p:xfrm>
          <a:off x="4838009" y="2257587"/>
          <a:ext cx="1770609" cy="709844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90203">
                  <a:extLst>
                    <a:ext uri="{9D8B030D-6E8A-4147-A177-3AD203B41FA5}">
                      <a16:colId xmlns:a16="http://schemas.microsoft.com/office/drawing/2014/main" val="2598898343"/>
                    </a:ext>
                  </a:extLst>
                </a:gridCol>
                <a:gridCol w="590203">
                  <a:extLst>
                    <a:ext uri="{9D8B030D-6E8A-4147-A177-3AD203B41FA5}">
                      <a16:colId xmlns:a16="http://schemas.microsoft.com/office/drawing/2014/main" val="4107408605"/>
                    </a:ext>
                  </a:extLst>
                </a:gridCol>
                <a:gridCol w="590203">
                  <a:extLst>
                    <a:ext uri="{9D8B030D-6E8A-4147-A177-3AD203B41FA5}">
                      <a16:colId xmlns:a16="http://schemas.microsoft.com/office/drawing/2014/main" val="3321076189"/>
                    </a:ext>
                  </a:extLst>
                </a:gridCol>
              </a:tblGrid>
              <a:tr h="1774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Success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Failure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1028196"/>
                  </a:ext>
                </a:extLst>
              </a:tr>
              <a:tr h="1774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SFOA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0328052"/>
                  </a:ext>
                </a:extLst>
              </a:tr>
              <a:tr h="1774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PSO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9866706"/>
                  </a:ext>
                </a:extLst>
              </a:tr>
              <a:tr h="1774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DE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072381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B45CD24-9192-6E2E-2AF4-1F72BFDCA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406896"/>
              </p:ext>
            </p:extLst>
          </p:nvPr>
        </p:nvGraphicFramePr>
        <p:xfrm>
          <a:off x="3618662" y="3243642"/>
          <a:ext cx="2984644" cy="762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8230">
                  <a:extLst>
                    <a:ext uri="{9D8B030D-6E8A-4147-A177-3AD203B41FA5}">
                      <a16:colId xmlns:a16="http://schemas.microsoft.com/office/drawing/2014/main" val="917758572"/>
                    </a:ext>
                  </a:extLst>
                </a:gridCol>
                <a:gridCol w="730021">
                  <a:extLst>
                    <a:ext uri="{9D8B030D-6E8A-4147-A177-3AD203B41FA5}">
                      <a16:colId xmlns:a16="http://schemas.microsoft.com/office/drawing/2014/main" val="2433855528"/>
                    </a:ext>
                  </a:extLst>
                </a:gridCol>
                <a:gridCol w="791270">
                  <a:extLst>
                    <a:ext uri="{9D8B030D-6E8A-4147-A177-3AD203B41FA5}">
                      <a16:colId xmlns:a16="http://schemas.microsoft.com/office/drawing/2014/main" val="1501853765"/>
                    </a:ext>
                  </a:extLst>
                </a:gridCol>
                <a:gridCol w="715123">
                  <a:extLst>
                    <a:ext uri="{9D8B030D-6E8A-4147-A177-3AD203B41FA5}">
                      <a16:colId xmlns:a16="http://schemas.microsoft.com/office/drawing/2014/main" val="16620048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Raw P-Value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Holm P-Value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Significant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65486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SFOA vs PSO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1.86E-09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1.67E-02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Yes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17706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SFOA vs DE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1.86E-09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2.50E-02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Yes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15254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PSO  vs DE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1.86E-09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5.00E-02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Yes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661354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948F7FF-ACDE-C7A0-BC2C-DDC873374F39}"/>
              </a:ext>
            </a:extLst>
          </p:cNvPr>
          <p:cNvSpPr txBox="1"/>
          <p:nvPr/>
        </p:nvSpPr>
        <p:spPr>
          <a:xfrm>
            <a:off x="3420918" y="1708711"/>
            <a:ext cx="2770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Neue Haas Grotesk Text Pro" panose="020B0504020202020204" pitchFamily="34" charset="0"/>
              </a:rPr>
              <a:t>Statistical Tests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32EF3D-136D-9025-23F5-75C9E2B5986B}"/>
              </a:ext>
            </a:extLst>
          </p:cNvPr>
          <p:cNvSpPr txBox="1"/>
          <p:nvPr/>
        </p:nvSpPr>
        <p:spPr>
          <a:xfrm>
            <a:off x="5170744" y="2025971"/>
            <a:ext cx="14032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Neue Haas Grotesk Text Pro" panose="020B0504020202020204" pitchFamily="34" charset="0"/>
              </a:rPr>
              <a:t>WSN Success Rate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B236FC6-8B1B-A97A-2CC3-C191CFCFC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766914"/>
              </p:ext>
            </p:extLst>
          </p:nvPr>
        </p:nvGraphicFramePr>
        <p:xfrm>
          <a:off x="3643139" y="4281853"/>
          <a:ext cx="2976563" cy="76200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803275">
                  <a:extLst>
                    <a:ext uri="{9D8B030D-6E8A-4147-A177-3AD203B41FA5}">
                      <a16:colId xmlns:a16="http://schemas.microsoft.com/office/drawing/2014/main" val="2208592315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649252545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159653913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037154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Raw P-Value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Holm P-Value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Significant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66699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SFOA vs PSO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1.73E-06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1.67E-02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Yes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5705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SFOA vs DE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1.73E-06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2.50E-02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Yes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88886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PSO  vs DE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1.18E-01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5.00E-02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No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Neue Haas Grotesk Text Pro" panose="020B05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0095017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2E222657-058D-D0C8-476F-F4E7464AD012}"/>
              </a:ext>
            </a:extLst>
          </p:cNvPr>
          <p:cNvSpPr txBox="1"/>
          <p:nvPr/>
        </p:nvSpPr>
        <p:spPr>
          <a:xfrm>
            <a:off x="5170745" y="2982426"/>
            <a:ext cx="14032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Neue Haas Grotesk Text Pro" panose="020B0504020202020204" pitchFamily="34" charset="0"/>
              </a:rPr>
              <a:t>Sphere Significance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DCA655-4829-4EAF-C9AF-8C356BC53181}"/>
              </a:ext>
            </a:extLst>
          </p:cNvPr>
          <p:cNvSpPr txBox="1"/>
          <p:nvPr/>
        </p:nvSpPr>
        <p:spPr>
          <a:xfrm>
            <a:off x="5200071" y="4015568"/>
            <a:ext cx="14032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Neue Haas Grotesk Text Pro" panose="020B0504020202020204" pitchFamily="34" charset="0"/>
              </a:rPr>
              <a:t>WSN Significance</a:t>
            </a:r>
          </a:p>
        </p:txBody>
      </p:sp>
    </p:spTree>
    <p:extLst>
      <p:ext uri="{BB962C8B-B14F-4D97-AF65-F5344CB8AC3E}">
        <p14:creationId xmlns:p14="http://schemas.microsoft.com/office/powerpoint/2010/main" val="880057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90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Georgia</vt:lpstr>
      <vt:lpstr>Neue Haas Grotesk Text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Boulos (RIT Student)</dc:creator>
  <cp:lastModifiedBy>Nicholas Boulos (RIT Student)</cp:lastModifiedBy>
  <cp:revision>1</cp:revision>
  <dcterms:created xsi:type="dcterms:W3CDTF">2025-12-10T23:35:40Z</dcterms:created>
  <dcterms:modified xsi:type="dcterms:W3CDTF">2025-12-11T00:16:18Z</dcterms:modified>
</cp:coreProperties>
</file>