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Lst>
  <p:sldSz cx="32918400" cy="21945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6902"/>
    <a:srgbClr val="FEB5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32" d="100"/>
          <a:sy n="32" d="100"/>
        </p:scale>
        <p:origin x="151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3591562"/>
            <a:ext cx="27980640" cy="7640320"/>
          </a:xfrm>
        </p:spPr>
        <p:txBody>
          <a:bodyPr anchor="b"/>
          <a:lstStyle>
            <a:lvl1pPr algn="ctr">
              <a:defRPr sz="19200"/>
            </a:lvl1pPr>
          </a:lstStyle>
          <a:p>
            <a:r>
              <a:rPr lang="en-US"/>
              <a:t>Click to edit Master title style</a:t>
            </a:r>
            <a:endParaRPr lang="en-US" dirty="0"/>
          </a:p>
        </p:txBody>
      </p:sp>
      <p:sp>
        <p:nvSpPr>
          <p:cNvPr id="3" name="Subtitle 2"/>
          <p:cNvSpPr>
            <a:spLocks noGrp="1"/>
          </p:cNvSpPr>
          <p:nvPr>
            <p:ph type="subTitle" idx="1"/>
          </p:nvPr>
        </p:nvSpPr>
        <p:spPr>
          <a:xfrm>
            <a:off x="4114800" y="11526522"/>
            <a:ext cx="246888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D797405-5B46-46A1-81B3-38EF90EB51F6}" type="datetimeFigureOut">
              <a:rPr lang="en-US" smtClean="0"/>
              <a:t>12/15/2025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6AAA7B6-F7CE-43D2-9212-D222E9EE2B71}" type="slidenum">
              <a:rPr lang="en-US" smtClean="0"/>
              <a:t>‹#›</a:t>
            </a:fld>
            <a:endParaRPr lang="en-US" dirty="0"/>
          </a:p>
        </p:txBody>
      </p:sp>
    </p:spTree>
    <p:extLst>
      <p:ext uri="{BB962C8B-B14F-4D97-AF65-F5344CB8AC3E}">
        <p14:creationId xmlns:p14="http://schemas.microsoft.com/office/powerpoint/2010/main" val="3248076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797405-5B46-46A1-81B3-38EF90EB51F6}" type="datetimeFigureOut">
              <a:rPr lang="en-US" smtClean="0"/>
              <a:t>12/15/2025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6AAA7B6-F7CE-43D2-9212-D222E9EE2B71}" type="slidenum">
              <a:rPr lang="en-US" smtClean="0"/>
              <a:t>‹#›</a:t>
            </a:fld>
            <a:endParaRPr lang="en-US" dirty="0"/>
          </a:p>
        </p:txBody>
      </p:sp>
    </p:spTree>
    <p:extLst>
      <p:ext uri="{BB962C8B-B14F-4D97-AF65-F5344CB8AC3E}">
        <p14:creationId xmlns:p14="http://schemas.microsoft.com/office/powerpoint/2010/main" val="2585024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5471167"/>
            <a:ext cx="28392120" cy="9128758"/>
          </a:xfrm>
        </p:spPr>
        <p:txBody>
          <a:bodyPr anchor="b"/>
          <a:lstStyle>
            <a:lvl1pPr>
              <a:defRPr sz="19200"/>
            </a:lvl1pPr>
          </a:lstStyle>
          <a:p>
            <a:r>
              <a:rPr lang="en-US"/>
              <a:t>Click to edit Master title style</a:t>
            </a:r>
            <a:endParaRPr lang="en-US" dirty="0"/>
          </a:p>
        </p:txBody>
      </p:sp>
      <p:sp>
        <p:nvSpPr>
          <p:cNvPr id="3" name="Text Placeholder 2"/>
          <p:cNvSpPr>
            <a:spLocks noGrp="1"/>
          </p:cNvSpPr>
          <p:nvPr>
            <p:ph type="body" idx="1"/>
          </p:nvPr>
        </p:nvSpPr>
        <p:spPr>
          <a:xfrm>
            <a:off x="2245997" y="14686287"/>
            <a:ext cx="28392120" cy="4800598"/>
          </a:xfrm>
        </p:spPr>
        <p:txBody>
          <a:bodyPr/>
          <a:lstStyle>
            <a:lvl1pPr marL="0" indent="0">
              <a:buNone/>
              <a:defRPr sz="7680">
                <a:solidFill>
                  <a:schemeClr val="tx1">
                    <a:tint val="82000"/>
                  </a:schemeClr>
                </a:solidFill>
              </a:defRPr>
            </a:lvl1pPr>
            <a:lvl2pPr marL="1463040" indent="0">
              <a:buNone/>
              <a:defRPr sz="6400">
                <a:solidFill>
                  <a:schemeClr val="tx1">
                    <a:tint val="82000"/>
                  </a:schemeClr>
                </a:solidFill>
              </a:defRPr>
            </a:lvl2pPr>
            <a:lvl3pPr marL="2926080" indent="0">
              <a:buNone/>
              <a:defRPr sz="5760">
                <a:solidFill>
                  <a:schemeClr val="tx1">
                    <a:tint val="82000"/>
                  </a:schemeClr>
                </a:solidFill>
              </a:defRPr>
            </a:lvl3pPr>
            <a:lvl4pPr marL="4389120" indent="0">
              <a:buNone/>
              <a:defRPr sz="5120">
                <a:solidFill>
                  <a:schemeClr val="tx1">
                    <a:tint val="82000"/>
                  </a:schemeClr>
                </a:solidFill>
              </a:defRPr>
            </a:lvl4pPr>
            <a:lvl5pPr marL="5852160" indent="0">
              <a:buNone/>
              <a:defRPr sz="5120">
                <a:solidFill>
                  <a:schemeClr val="tx1">
                    <a:tint val="82000"/>
                  </a:schemeClr>
                </a:solidFill>
              </a:defRPr>
            </a:lvl5pPr>
            <a:lvl6pPr marL="7315200" indent="0">
              <a:buNone/>
              <a:defRPr sz="5120">
                <a:solidFill>
                  <a:schemeClr val="tx1">
                    <a:tint val="82000"/>
                  </a:schemeClr>
                </a:solidFill>
              </a:defRPr>
            </a:lvl6pPr>
            <a:lvl7pPr marL="8778240" indent="0">
              <a:buNone/>
              <a:defRPr sz="5120">
                <a:solidFill>
                  <a:schemeClr val="tx1">
                    <a:tint val="82000"/>
                  </a:schemeClr>
                </a:solidFill>
              </a:defRPr>
            </a:lvl7pPr>
            <a:lvl8pPr marL="10241280" indent="0">
              <a:buNone/>
              <a:defRPr sz="5120">
                <a:solidFill>
                  <a:schemeClr val="tx1">
                    <a:tint val="82000"/>
                  </a:schemeClr>
                </a:solidFill>
              </a:defRPr>
            </a:lvl8pPr>
            <a:lvl9pPr marL="11704320" indent="0">
              <a:buNone/>
              <a:defRPr sz="512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797405-5B46-46A1-81B3-38EF90EB51F6}" type="datetimeFigureOut">
              <a:rPr lang="en-US" smtClean="0"/>
              <a:t>12/15/2025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6AAA7B6-F7CE-43D2-9212-D222E9EE2B71}" type="slidenum">
              <a:rPr lang="en-US" smtClean="0"/>
              <a:t>‹#›</a:t>
            </a:fld>
            <a:endParaRPr lang="en-US" dirty="0"/>
          </a:p>
        </p:txBody>
      </p:sp>
    </p:spTree>
    <p:extLst>
      <p:ext uri="{BB962C8B-B14F-4D97-AF65-F5344CB8AC3E}">
        <p14:creationId xmlns:p14="http://schemas.microsoft.com/office/powerpoint/2010/main" val="3074513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797405-5B46-46A1-81B3-38EF90EB51F6}" type="datetimeFigureOut">
              <a:rPr lang="en-US" smtClean="0"/>
              <a:t>12/15/2025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6AAA7B6-F7CE-43D2-9212-D222E9EE2B71}" type="slidenum">
              <a:rPr lang="en-US" smtClean="0"/>
              <a:t>‹#›</a:t>
            </a:fld>
            <a:endParaRPr lang="en-US" dirty="0"/>
          </a:p>
        </p:txBody>
      </p:sp>
    </p:spTree>
    <p:extLst>
      <p:ext uri="{BB962C8B-B14F-4D97-AF65-F5344CB8AC3E}">
        <p14:creationId xmlns:p14="http://schemas.microsoft.com/office/powerpoint/2010/main" val="1569524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168405"/>
            <a:ext cx="28392120" cy="42418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5379722"/>
            <a:ext cx="13926024"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267431" y="8016240"/>
            <a:ext cx="13926024"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5379722"/>
            <a:ext cx="13994608"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6664942" y="8016240"/>
            <a:ext cx="13994608"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797405-5B46-46A1-81B3-38EF90EB51F6}" type="datetimeFigureOut">
              <a:rPr lang="en-US" smtClean="0"/>
              <a:t>12/15/2025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6AAA7B6-F7CE-43D2-9212-D222E9EE2B71}" type="slidenum">
              <a:rPr lang="en-US" smtClean="0"/>
              <a:t>‹#›</a:t>
            </a:fld>
            <a:endParaRPr lang="en-US" dirty="0"/>
          </a:p>
        </p:txBody>
      </p:sp>
    </p:spTree>
    <p:extLst>
      <p:ext uri="{BB962C8B-B14F-4D97-AF65-F5344CB8AC3E}">
        <p14:creationId xmlns:p14="http://schemas.microsoft.com/office/powerpoint/2010/main" val="929244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797405-5B46-46A1-81B3-38EF90EB51F6}" type="datetimeFigureOut">
              <a:rPr lang="en-US" smtClean="0"/>
              <a:t>12/15/2025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6AAA7B6-F7CE-43D2-9212-D222E9EE2B71}" type="slidenum">
              <a:rPr lang="en-US" smtClean="0"/>
              <a:t>‹#›</a:t>
            </a:fld>
            <a:endParaRPr lang="en-US" dirty="0"/>
          </a:p>
        </p:txBody>
      </p:sp>
    </p:spTree>
    <p:extLst>
      <p:ext uri="{BB962C8B-B14F-4D97-AF65-F5344CB8AC3E}">
        <p14:creationId xmlns:p14="http://schemas.microsoft.com/office/powerpoint/2010/main" val="1233934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797405-5B46-46A1-81B3-38EF90EB51F6}" type="datetimeFigureOut">
              <a:rPr lang="en-US" smtClean="0"/>
              <a:t>12/15/2025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6AAA7B6-F7CE-43D2-9212-D222E9EE2B71}" type="slidenum">
              <a:rPr lang="en-US" smtClean="0"/>
              <a:t>‹#›</a:t>
            </a:fld>
            <a:endParaRPr lang="en-US" dirty="0"/>
          </a:p>
        </p:txBody>
      </p:sp>
    </p:spTree>
    <p:extLst>
      <p:ext uri="{BB962C8B-B14F-4D97-AF65-F5344CB8AC3E}">
        <p14:creationId xmlns:p14="http://schemas.microsoft.com/office/powerpoint/2010/main" val="2581943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Content Placeholder 2"/>
          <p:cNvSpPr>
            <a:spLocks noGrp="1"/>
          </p:cNvSpPr>
          <p:nvPr>
            <p:ph idx="1"/>
          </p:nvPr>
        </p:nvSpPr>
        <p:spPr>
          <a:xfrm>
            <a:off x="13994608" y="3159765"/>
            <a:ext cx="1666494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7D797405-5B46-46A1-81B3-38EF90EB51F6}" type="datetimeFigureOut">
              <a:rPr lang="en-US" smtClean="0"/>
              <a:t>12/15/2025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6AAA7B6-F7CE-43D2-9212-D222E9EE2B71}" type="slidenum">
              <a:rPr lang="en-US" smtClean="0"/>
              <a:t>‹#›</a:t>
            </a:fld>
            <a:endParaRPr lang="en-US" dirty="0"/>
          </a:p>
        </p:txBody>
      </p:sp>
    </p:spTree>
    <p:extLst>
      <p:ext uri="{BB962C8B-B14F-4D97-AF65-F5344CB8AC3E}">
        <p14:creationId xmlns:p14="http://schemas.microsoft.com/office/powerpoint/2010/main" val="2050745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3159765"/>
            <a:ext cx="1666494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7D797405-5B46-46A1-81B3-38EF90EB51F6}" type="datetimeFigureOut">
              <a:rPr lang="en-US" smtClean="0"/>
              <a:t>12/15/2025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6AAA7B6-F7CE-43D2-9212-D222E9EE2B71}" type="slidenum">
              <a:rPr lang="en-US" smtClean="0"/>
              <a:t>‹#›</a:t>
            </a:fld>
            <a:endParaRPr lang="en-US" dirty="0"/>
          </a:p>
        </p:txBody>
      </p:sp>
    </p:spTree>
    <p:extLst>
      <p:ext uri="{BB962C8B-B14F-4D97-AF65-F5344CB8AC3E}">
        <p14:creationId xmlns:p14="http://schemas.microsoft.com/office/powerpoint/2010/main" val="3601963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797405-5B46-46A1-81B3-38EF90EB51F6}" type="datetimeFigureOut">
              <a:rPr lang="en-US" smtClean="0"/>
              <a:t>12/15/2025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6AAA7B6-F7CE-43D2-9212-D222E9EE2B71}" type="slidenum">
              <a:rPr lang="en-US" smtClean="0"/>
              <a:t>‹#›</a:t>
            </a:fld>
            <a:endParaRPr lang="en-US" dirty="0"/>
          </a:p>
        </p:txBody>
      </p:sp>
    </p:spTree>
    <p:extLst>
      <p:ext uri="{BB962C8B-B14F-4D97-AF65-F5344CB8AC3E}">
        <p14:creationId xmlns:p14="http://schemas.microsoft.com/office/powerpoint/2010/main" val="881275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1168400"/>
            <a:ext cx="7098030" cy="185978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1168400"/>
            <a:ext cx="20882610"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797405-5B46-46A1-81B3-38EF90EB51F6}" type="datetimeFigureOut">
              <a:rPr lang="en-US" smtClean="0"/>
              <a:t>12/15/2025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6AAA7B6-F7CE-43D2-9212-D222E9EE2B71}" type="slidenum">
              <a:rPr lang="en-US" smtClean="0"/>
              <a:t>‹#›</a:t>
            </a:fld>
            <a:endParaRPr lang="en-US" dirty="0"/>
          </a:p>
        </p:txBody>
      </p:sp>
    </p:spTree>
    <p:extLst>
      <p:ext uri="{BB962C8B-B14F-4D97-AF65-F5344CB8AC3E}">
        <p14:creationId xmlns:p14="http://schemas.microsoft.com/office/powerpoint/2010/main" val="4192036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1168405"/>
            <a:ext cx="28392120" cy="42418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5842000"/>
            <a:ext cx="2839212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20340325"/>
            <a:ext cx="7406640" cy="1168400"/>
          </a:xfrm>
          <a:prstGeom prst="rect">
            <a:avLst/>
          </a:prstGeom>
        </p:spPr>
        <p:txBody>
          <a:bodyPr vert="horz" lIns="91440" tIns="45720" rIns="91440" bIns="45720" rtlCol="0" anchor="ctr"/>
          <a:lstStyle>
            <a:lvl1pPr algn="l">
              <a:defRPr sz="3840">
                <a:solidFill>
                  <a:schemeClr val="tx1">
                    <a:tint val="82000"/>
                  </a:schemeClr>
                </a:solidFill>
              </a:defRPr>
            </a:lvl1pPr>
          </a:lstStyle>
          <a:p>
            <a:fld id="{7D797405-5B46-46A1-81B3-38EF90EB51F6}" type="datetimeFigureOut">
              <a:rPr lang="en-US" smtClean="0"/>
              <a:t>12/15/2025</a:t>
            </a:fld>
            <a:endParaRPr lang="en-US" dirty="0"/>
          </a:p>
        </p:txBody>
      </p:sp>
      <p:sp>
        <p:nvSpPr>
          <p:cNvPr id="5" name="Footer Placeholder 4"/>
          <p:cNvSpPr>
            <a:spLocks noGrp="1"/>
          </p:cNvSpPr>
          <p:nvPr>
            <p:ph type="ftr" sz="quarter" idx="3"/>
          </p:nvPr>
        </p:nvSpPr>
        <p:spPr>
          <a:xfrm>
            <a:off x="10904220" y="20340325"/>
            <a:ext cx="11109960" cy="1168400"/>
          </a:xfrm>
          <a:prstGeom prst="rect">
            <a:avLst/>
          </a:prstGeom>
        </p:spPr>
        <p:txBody>
          <a:bodyPr vert="horz" lIns="91440" tIns="45720" rIns="91440" bIns="45720" rtlCol="0" anchor="ctr"/>
          <a:lstStyle>
            <a:lvl1pPr algn="ctr">
              <a:defRPr sz="384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23248620" y="20340325"/>
            <a:ext cx="7406640" cy="1168400"/>
          </a:xfrm>
          <a:prstGeom prst="rect">
            <a:avLst/>
          </a:prstGeom>
        </p:spPr>
        <p:txBody>
          <a:bodyPr vert="horz" lIns="91440" tIns="45720" rIns="91440" bIns="45720" rtlCol="0" anchor="ctr"/>
          <a:lstStyle>
            <a:lvl1pPr algn="r">
              <a:defRPr sz="3840">
                <a:solidFill>
                  <a:schemeClr val="tx1">
                    <a:tint val="82000"/>
                  </a:schemeClr>
                </a:solidFill>
              </a:defRPr>
            </a:lvl1pPr>
          </a:lstStyle>
          <a:p>
            <a:fld id="{C6AAA7B6-F7CE-43D2-9212-D222E9EE2B71}" type="slidenum">
              <a:rPr lang="en-US" smtClean="0"/>
              <a:t>‹#›</a:t>
            </a:fld>
            <a:endParaRPr lang="en-US" dirty="0"/>
          </a:p>
        </p:txBody>
      </p:sp>
    </p:spTree>
    <p:extLst>
      <p:ext uri="{BB962C8B-B14F-4D97-AF65-F5344CB8AC3E}">
        <p14:creationId xmlns:p14="http://schemas.microsoft.com/office/powerpoint/2010/main" val="119874427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oi.org/10.1038/s41598-025-11608-4" TargetMode="External"/><Relationship Id="rId3" Type="http://schemas.openxmlformats.org/officeDocument/2006/relationships/image" Target="../media/image2.png"/><Relationship Id="rId7" Type="http://schemas.openxmlformats.org/officeDocument/2006/relationships/hyperlink" Target="https://doi.org/10.1016/j.aej.2022.07.036"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hyperlink" Target="https://doi.org/10.1007/s00521-024-10694-" TargetMode="External"/><Relationship Id="rId4" Type="http://schemas.openxmlformats.org/officeDocument/2006/relationships/image" Target="../media/image3.png"/><Relationship Id="rId9" Type="http://schemas.openxmlformats.org/officeDocument/2006/relationships/hyperlink" Target="https://www.kaggle.com/datasets/uciml/iri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3E9888-0B9F-EF30-F30B-4B0671D22A72}"/>
              </a:ext>
            </a:extLst>
          </p:cNvPr>
          <p:cNvSpPr/>
          <p:nvPr/>
        </p:nvSpPr>
        <p:spPr>
          <a:xfrm>
            <a:off x="0" y="0"/>
            <a:ext cx="32918400" cy="224175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5CF16142-8017-25A3-293F-B2B93C87735F}"/>
              </a:ext>
            </a:extLst>
          </p:cNvPr>
          <p:cNvSpPr txBox="1"/>
          <p:nvPr/>
        </p:nvSpPr>
        <p:spPr>
          <a:xfrm>
            <a:off x="943897" y="566879"/>
            <a:ext cx="27196026" cy="1107996"/>
          </a:xfrm>
          <a:prstGeom prst="rect">
            <a:avLst/>
          </a:prstGeom>
          <a:noFill/>
        </p:spPr>
        <p:txBody>
          <a:bodyPr wrap="square" rtlCol="0">
            <a:spAutoFit/>
          </a:bodyPr>
          <a:lstStyle/>
          <a:p>
            <a:r>
              <a:rPr lang="en-US" sz="6600" b="1" dirty="0">
                <a:solidFill>
                  <a:schemeClr val="bg1"/>
                </a:solidFill>
                <a:latin typeface="Georgia" panose="02040502050405020303" pitchFamily="18" charset="0"/>
              </a:rPr>
              <a:t>Comparative Analysis of the Starfish Optimization Algorithm</a:t>
            </a:r>
          </a:p>
        </p:txBody>
      </p:sp>
      <p:pic>
        <p:nvPicPr>
          <p:cNvPr id="4" name="Picture 3" descr="A black and orange sign with white text&#10;&#10;AI-generated content may be incorrect.">
            <a:extLst>
              <a:ext uri="{FF2B5EF4-FFF2-40B4-BE49-F238E27FC236}">
                <a16:creationId xmlns:a16="http://schemas.microsoft.com/office/drawing/2014/main" id="{008771A1-CF3A-D459-CE51-E18F3F8280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29968" y="123417"/>
            <a:ext cx="1710813" cy="1994920"/>
          </a:xfrm>
          <a:prstGeom prst="rect">
            <a:avLst/>
          </a:prstGeom>
        </p:spPr>
      </p:pic>
      <p:sp>
        <p:nvSpPr>
          <p:cNvPr id="5" name="Rectangle 4">
            <a:extLst>
              <a:ext uri="{FF2B5EF4-FFF2-40B4-BE49-F238E27FC236}">
                <a16:creationId xmlns:a16="http://schemas.microsoft.com/office/drawing/2014/main" id="{D8FC6A78-37C9-AC91-16FC-1809FA063BD0}"/>
              </a:ext>
            </a:extLst>
          </p:cNvPr>
          <p:cNvSpPr/>
          <p:nvPr/>
        </p:nvSpPr>
        <p:spPr>
          <a:xfrm>
            <a:off x="0" y="2241755"/>
            <a:ext cx="32918400" cy="825910"/>
          </a:xfrm>
          <a:prstGeom prst="rect">
            <a:avLst/>
          </a:prstGeom>
          <a:solidFill>
            <a:srgbClr val="F76902"/>
          </a:solidFill>
          <a:ln>
            <a:solidFill>
              <a:srgbClr val="F769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8EEE767-5F2D-1D16-C243-1B173C5E2530}"/>
              </a:ext>
            </a:extLst>
          </p:cNvPr>
          <p:cNvSpPr txBox="1"/>
          <p:nvPr/>
        </p:nvSpPr>
        <p:spPr>
          <a:xfrm>
            <a:off x="12167419" y="2331544"/>
            <a:ext cx="8583562" cy="646331"/>
          </a:xfrm>
          <a:prstGeom prst="rect">
            <a:avLst/>
          </a:prstGeom>
          <a:noFill/>
        </p:spPr>
        <p:txBody>
          <a:bodyPr wrap="square" rtlCol="0">
            <a:spAutoFit/>
          </a:bodyPr>
          <a:lstStyle/>
          <a:p>
            <a:pPr algn="ctr"/>
            <a:r>
              <a:rPr lang="en-US" sz="3600" b="1" dirty="0">
                <a:solidFill>
                  <a:schemeClr val="bg1"/>
                </a:solidFill>
                <a:latin typeface="Georgia" panose="02040502050405020303" pitchFamily="18" charset="0"/>
              </a:rPr>
              <a:t>Nicholas Boulos | nb4509@rit.edu</a:t>
            </a:r>
            <a:endParaRPr lang="en-US" sz="4000" b="1" dirty="0">
              <a:solidFill>
                <a:schemeClr val="bg1"/>
              </a:solidFill>
              <a:latin typeface="Georgia" panose="02040502050405020303" pitchFamily="18" charset="0"/>
            </a:endParaRPr>
          </a:p>
        </p:txBody>
      </p:sp>
      <p:sp>
        <p:nvSpPr>
          <p:cNvPr id="7" name="TextBox 6">
            <a:extLst>
              <a:ext uri="{FF2B5EF4-FFF2-40B4-BE49-F238E27FC236}">
                <a16:creationId xmlns:a16="http://schemas.microsoft.com/office/drawing/2014/main" id="{712D1E29-B5F8-4283-22C3-184BD2A5808F}"/>
              </a:ext>
            </a:extLst>
          </p:cNvPr>
          <p:cNvSpPr txBox="1"/>
          <p:nvPr/>
        </p:nvSpPr>
        <p:spPr>
          <a:xfrm>
            <a:off x="943897" y="3634545"/>
            <a:ext cx="7611106" cy="923330"/>
          </a:xfrm>
          <a:prstGeom prst="rect">
            <a:avLst/>
          </a:prstGeom>
          <a:noFill/>
        </p:spPr>
        <p:txBody>
          <a:bodyPr wrap="square" rtlCol="0">
            <a:spAutoFit/>
          </a:bodyPr>
          <a:lstStyle/>
          <a:p>
            <a:r>
              <a:rPr lang="en-US" sz="5400" b="1" dirty="0">
                <a:solidFill>
                  <a:srgbClr val="F76902"/>
                </a:solidFill>
                <a:latin typeface="Neue Haas Grotesk Text Pro" panose="020B0504020202020204" pitchFamily="34" charset="0"/>
              </a:rPr>
              <a:t>Introduction</a:t>
            </a:r>
          </a:p>
        </p:txBody>
      </p:sp>
      <p:sp>
        <p:nvSpPr>
          <p:cNvPr id="8" name="TextBox 7">
            <a:extLst>
              <a:ext uri="{FF2B5EF4-FFF2-40B4-BE49-F238E27FC236}">
                <a16:creationId xmlns:a16="http://schemas.microsoft.com/office/drawing/2014/main" id="{3B24F1AB-214B-EA31-37C2-DEA7836AD133}"/>
              </a:ext>
            </a:extLst>
          </p:cNvPr>
          <p:cNvSpPr txBox="1"/>
          <p:nvPr/>
        </p:nvSpPr>
        <p:spPr>
          <a:xfrm>
            <a:off x="943897" y="4557875"/>
            <a:ext cx="9144000" cy="8233023"/>
          </a:xfrm>
          <a:prstGeom prst="rect">
            <a:avLst/>
          </a:prstGeom>
          <a:noFill/>
        </p:spPr>
        <p:txBody>
          <a:bodyPr wrap="square" rtlCol="0">
            <a:spAutoFit/>
          </a:bodyPr>
          <a:lstStyle/>
          <a:p>
            <a:r>
              <a:rPr lang="en-US" sz="2300" dirty="0">
                <a:latin typeface="Neue Haas Grotesk Text Pro" panose="020B0504020202020204" pitchFamily="34" charset="0"/>
              </a:rPr>
              <a:t>The starfish optimization algorithm (SFOA) is a novel bio-inspired search technique that models the </a:t>
            </a:r>
            <a:r>
              <a:rPr lang="en-US" sz="2300" b="1" dirty="0">
                <a:latin typeface="Neue Haas Grotesk Text Pro" panose="020B0504020202020204" pitchFamily="34" charset="0"/>
              </a:rPr>
              <a:t>cooperative preying behavior of starfish</a:t>
            </a:r>
            <a:r>
              <a:rPr lang="en-US" sz="2300" dirty="0">
                <a:latin typeface="Neue Haas Grotesk Text Pro" panose="020B0504020202020204" pitchFamily="34" charset="0"/>
              </a:rPr>
              <a:t>. </a:t>
            </a:r>
          </a:p>
          <a:p>
            <a:pPr marL="342900" indent="-342900">
              <a:buFont typeface="Arial" panose="020B0604020202020204" pitchFamily="34" charset="0"/>
              <a:buChar char="•"/>
            </a:pPr>
            <a:r>
              <a:rPr lang="en-US" sz="2300" dirty="0">
                <a:latin typeface="Neue Haas Grotesk Text Pro" panose="020B0504020202020204" pitchFamily="34" charset="0"/>
              </a:rPr>
              <a:t>The algorithm is derived from particle-swarm optimization and operates through two phases: exploration and exploitation. </a:t>
            </a:r>
          </a:p>
          <a:p>
            <a:pPr marL="342900" indent="-342900">
              <a:buFont typeface="Arial" panose="020B0604020202020204" pitchFamily="34" charset="0"/>
              <a:buChar char="•"/>
            </a:pPr>
            <a:r>
              <a:rPr lang="en-US" sz="2300" dirty="0">
                <a:latin typeface="Neue Haas Grotesk Text Pro" panose="020B0504020202020204" pitchFamily="34" charset="0"/>
              </a:rPr>
              <a:t>Each starfish will randomly choose between </a:t>
            </a:r>
            <a:r>
              <a:rPr lang="en-US" sz="2300" b="1" dirty="0">
                <a:latin typeface="Neue Haas Grotesk Text Pro" panose="020B0504020202020204" pitchFamily="34" charset="0"/>
              </a:rPr>
              <a:t>exploring</a:t>
            </a:r>
            <a:r>
              <a:rPr lang="en-US" sz="2300" dirty="0">
                <a:latin typeface="Neue Haas Grotesk Text Pro" panose="020B0504020202020204" pitchFamily="34" charset="0"/>
              </a:rPr>
              <a:t> and </a:t>
            </a:r>
            <a:r>
              <a:rPr lang="en-US" sz="2300" b="1" dirty="0">
                <a:latin typeface="Neue Haas Grotesk Text Pro" panose="020B0504020202020204" pitchFamily="34" charset="0"/>
              </a:rPr>
              <a:t>exploiting</a:t>
            </a:r>
            <a:r>
              <a:rPr lang="en-US" sz="2300" dirty="0">
                <a:latin typeface="Neue Haas Grotesk Text Pro" panose="020B0504020202020204" pitchFamily="34" charset="0"/>
              </a:rPr>
              <a:t>. </a:t>
            </a:r>
          </a:p>
          <a:p>
            <a:pPr marL="342900" indent="-342900">
              <a:buFont typeface="Arial" panose="020B0604020202020204" pitchFamily="34" charset="0"/>
              <a:buChar char="•"/>
            </a:pPr>
            <a:r>
              <a:rPr lang="en-US" sz="2300" b="1" dirty="0">
                <a:latin typeface="Neue Haas Grotesk Text Pro" panose="020B0504020202020204" pitchFamily="34" charset="0"/>
              </a:rPr>
              <a:t>Dimensional awareness </a:t>
            </a:r>
            <a:r>
              <a:rPr lang="en-US" sz="2300" dirty="0">
                <a:latin typeface="Neue Haas Grotesk Text Pro" panose="020B0504020202020204" pitchFamily="34" charset="0"/>
              </a:rPr>
              <a:t>is a key feature of SFOA:</a:t>
            </a:r>
          </a:p>
          <a:p>
            <a:pPr marL="800100" lvl="1" indent="-342900">
              <a:buFont typeface="Arial" panose="020B0604020202020204" pitchFamily="34" charset="0"/>
              <a:buChar char="•"/>
            </a:pPr>
            <a:r>
              <a:rPr lang="en-US" sz="2300" dirty="0">
                <a:latin typeface="Neue Haas Grotesk Text Pro" panose="020B0504020202020204" pitchFamily="34" charset="0"/>
              </a:rPr>
              <a:t>For D &gt;= 5, starfish explore </a:t>
            </a:r>
            <a:r>
              <a:rPr lang="en-US" sz="2300" b="1" dirty="0">
                <a:latin typeface="Neue Haas Grotesk Text Pro" panose="020B0504020202020204" pitchFamily="34" charset="0"/>
              </a:rPr>
              <a:t>five directions</a:t>
            </a:r>
            <a:r>
              <a:rPr lang="en-US" sz="2300" dirty="0">
                <a:latin typeface="Neue Haas Grotesk Text Pro" panose="020B0504020202020204" pitchFamily="34" charset="0"/>
              </a:rPr>
              <a:t> and follow either </a:t>
            </a:r>
            <a:r>
              <a:rPr lang="en-US" sz="2300" b="1" dirty="0">
                <a:latin typeface="Neue Haas Grotesk Text Pro" panose="020B0504020202020204" pitchFamily="34" charset="0"/>
              </a:rPr>
              <a:t>sine or cosine trajectories at random</a:t>
            </a:r>
          </a:p>
          <a:p>
            <a:pPr marL="800100" lvl="1" indent="-342900">
              <a:buFont typeface="Arial" panose="020B0604020202020204" pitchFamily="34" charset="0"/>
              <a:buChar char="•"/>
            </a:pPr>
            <a:r>
              <a:rPr lang="en-US" sz="2300" dirty="0">
                <a:latin typeface="Neue Haas Grotesk Text Pro" panose="020B0504020202020204" pitchFamily="34" charset="0"/>
              </a:rPr>
              <a:t>For D &lt; 5, </a:t>
            </a:r>
            <a:r>
              <a:rPr lang="en-US" sz="2300" b="1" dirty="0">
                <a:latin typeface="Neue Haas Grotesk Text Pro" panose="020B0504020202020204" pitchFamily="34" charset="0"/>
              </a:rPr>
              <a:t>a single direction </a:t>
            </a:r>
            <a:r>
              <a:rPr lang="en-US" sz="2300" dirty="0">
                <a:latin typeface="Neue Haas Grotesk Text Pro" panose="020B0504020202020204" pitchFamily="34" charset="0"/>
              </a:rPr>
              <a:t>is used</a:t>
            </a:r>
          </a:p>
          <a:p>
            <a:pPr marL="342900" indent="-342900">
              <a:buFont typeface="Arial" panose="020B0604020202020204" pitchFamily="34" charset="0"/>
              <a:buChar char="•"/>
            </a:pPr>
            <a:r>
              <a:rPr lang="en-US" sz="2300" dirty="0">
                <a:latin typeface="Neue Haas Grotesk Text Pro" panose="020B0504020202020204" pitchFamily="34" charset="0"/>
              </a:rPr>
              <a:t>During Exploitation, solutions are refined by starfish moving along </a:t>
            </a:r>
            <a:r>
              <a:rPr lang="en-US" sz="2300" b="1" dirty="0">
                <a:latin typeface="Neue Haas Grotesk Text Pro" panose="020B0504020202020204" pitchFamily="34" charset="0"/>
              </a:rPr>
              <a:t>a vector defined by two directions pointing towards the global optimum</a:t>
            </a:r>
            <a:r>
              <a:rPr lang="en-US" sz="2300" dirty="0">
                <a:latin typeface="Neue Haas Grotesk Text Pro" panose="020B0504020202020204" pitchFamily="34" charset="0"/>
              </a:rPr>
              <a:t>.</a:t>
            </a:r>
          </a:p>
          <a:p>
            <a:pPr marL="342900" indent="-342900">
              <a:buFont typeface="Arial" panose="020B0604020202020204" pitchFamily="34" charset="0"/>
              <a:buChar char="•"/>
            </a:pPr>
            <a:r>
              <a:rPr lang="en-US" sz="2300" dirty="0">
                <a:latin typeface="Neue Haas Grotesk Text Pro" panose="020B0504020202020204" pitchFamily="34" charset="0"/>
              </a:rPr>
              <a:t>The regeneration phase removes starfish furthest from the global optimum to </a:t>
            </a:r>
            <a:r>
              <a:rPr lang="en-US" sz="2300" b="1" dirty="0">
                <a:latin typeface="Neue Haas Grotesk Text Pro" panose="020B0504020202020204" pitchFamily="34" charset="0"/>
              </a:rPr>
              <a:t>prevent stagnation</a:t>
            </a:r>
          </a:p>
          <a:p>
            <a:r>
              <a:rPr lang="en-US" sz="2300" dirty="0">
                <a:latin typeface="Neue Haas Grotesk Text Pro" panose="020B0504020202020204" pitchFamily="34" charset="0"/>
              </a:rPr>
              <a:t>The purpose of this project is to benchmark the technique’s performance and answer the following research questions:</a:t>
            </a:r>
          </a:p>
          <a:p>
            <a:pPr marL="342900" indent="-342900">
              <a:buFont typeface="Arial" panose="020B0604020202020204" pitchFamily="34" charset="0"/>
              <a:buChar char="•"/>
            </a:pPr>
            <a:r>
              <a:rPr lang="en-US" sz="2300" b="1" dirty="0">
                <a:latin typeface="Neue Haas Grotesk Text Pro" panose="020B0504020202020204" pitchFamily="34" charset="0"/>
              </a:rPr>
              <a:t>RQ1: How does SFOA compare to industry-standard algorithms in combinatorial optimization problems and  hyperparameter optimization?</a:t>
            </a:r>
          </a:p>
          <a:p>
            <a:pPr marL="342900" indent="-342900">
              <a:buFont typeface="Arial" panose="020B0604020202020204" pitchFamily="34" charset="0"/>
              <a:buChar char="•"/>
            </a:pPr>
            <a:r>
              <a:rPr lang="en-US" sz="2300" b="1" dirty="0">
                <a:latin typeface="Neue Haas Grotesk Text Pro" panose="020B0504020202020204" pitchFamily="34" charset="0"/>
              </a:rPr>
              <a:t>RQ2: Are dimensionally-aware techniques the future of search algorithms?</a:t>
            </a:r>
          </a:p>
        </p:txBody>
      </p:sp>
      <p:sp>
        <p:nvSpPr>
          <p:cNvPr id="9" name="TextBox 8">
            <a:extLst>
              <a:ext uri="{FF2B5EF4-FFF2-40B4-BE49-F238E27FC236}">
                <a16:creationId xmlns:a16="http://schemas.microsoft.com/office/drawing/2014/main" id="{68DDF21F-513E-D221-5995-DA578499DB40}"/>
              </a:ext>
            </a:extLst>
          </p:cNvPr>
          <p:cNvSpPr txBox="1"/>
          <p:nvPr/>
        </p:nvSpPr>
        <p:spPr>
          <a:xfrm>
            <a:off x="943897" y="12928058"/>
            <a:ext cx="7611106" cy="923330"/>
          </a:xfrm>
          <a:prstGeom prst="rect">
            <a:avLst/>
          </a:prstGeom>
          <a:noFill/>
        </p:spPr>
        <p:txBody>
          <a:bodyPr wrap="square" rtlCol="0">
            <a:spAutoFit/>
          </a:bodyPr>
          <a:lstStyle/>
          <a:p>
            <a:r>
              <a:rPr lang="en-US" sz="5400" b="1" dirty="0">
                <a:solidFill>
                  <a:srgbClr val="F76902"/>
                </a:solidFill>
                <a:latin typeface="Neue Haas Grotesk Text Pro" panose="020B0504020202020204" pitchFamily="34" charset="0"/>
              </a:rPr>
              <a:t>Methodology</a:t>
            </a:r>
          </a:p>
        </p:txBody>
      </p:sp>
      <p:sp>
        <p:nvSpPr>
          <p:cNvPr id="11" name="TextBox 10">
            <a:extLst>
              <a:ext uri="{FF2B5EF4-FFF2-40B4-BE49-F238E27FC236}">
                <a16:creationId xmlns:a16="http://schemas.microsoft.com/office/drawing/2014/main" id="{1F7D8A8C-B901-8470-331B-AA0103C2F624}"/>
              </a:ext>
            </a:extLst>
          </p:cNvPr>
          <p:cNvSpPr txBox="1"/>
          <p:nvPr/>
        </p:nvSpPr>
        <p:spPr>
          <a:xfrm>
            <a:off x="943897" y="13714228"/>
            <a:ext cx="9064086" cy="7848302"/>
          </a:xfrm>
          <a:prstGeom prst="rect">
            <a:avLst/>
          </a:prstGeom>
          <a:noFill/>
        </p:spPr>
        <p:txBody>
          <a:bodyPr wrap="square" rtlCol="0">
            <a:spAutoFit/>
          </a:bodyPr>
          <a:lstStyle/>
          <a:p>
            <a:pPr marL="342900" indent="-342900">
              <a:buFont typeface="Arial" panose="020B0604020202020204" pitchFamily="34" charset="0"/>
              <a:buChar char="•"/>
            </a:pPr>
            <a:r>
              <a:rPr lang="en-US" sz="2400" b="1" dirty="0">
                <a:latin typeface="Neue Haas Grotesk Text Pro" panose="020B0504020202020204" pitchFamily="34" charset="0"/>
              </a:rPr>
              <a:t>Algorithms for comparison</a:t>
            </a:r>
            <a:r>
              <a:rPr lang="en-US" sz="2400" dirty="0">
                <a:latin typeface="Neue Haas Grotesk Text Pro" panose="020B0504020202020204" pitchFamily="34" charset="0"/>
              </a:rPr>
              <a:t>:</a:t>
            </a:r>
          </a:p>
          <a:p>
            <a:pPr marL="800100" lvl="1" indent="-342900">
              <a:buFont typeface="Arial" panose="020B0604020202020204" pitchFamily="34" charset="0"/>
              <a:buChar char="•"/>
            </a:pPr>
            <a:r>
              <a:rPr lang="en-US" sz="2400" dirty="0">
                <a:latin typeface="Neue Haas Grotesk Text Pro" panose="020B0504020202020204" pitchFamily="34" charset="0"/>
              </a:rPr>
              <a:t>Particle-Swarm Optimization (PSO): PSO is the progenitor of SFOA so it would provide a good baseline for performance.</a:t>
            </a:r>
          </a:p>
          <a:p>
            <a:pPr marL="800100" lvl="1" indent="-342900">
              <a:buFont typeface="Arial" panose="020B0604020202020204" pitchFamily="34" charset="0"/>
              <a:buChar char="•"/>
            </a:pPr>
            <a:r>
              <a:rPr lang="en-US" sz="2400" dirty="0">
                <a:latin typeface="Neue Haas Grotesk Text Pro" panose="020B0504020202020204" pitchFamily="34" charset="0"/>
              </a:rPr>
              <a:t>Differential Evolution (DE): DE is a metaheuristic algorithm that works better for low-dimension problems so it would provide a good comparison for D &lt; 5 SFOA search.</a:t>
            </a:r>
          </a:p>
          <a:p>
            <a:pPr marL="342900" indent="-342900">
              <a:buFont typeface="Arial" panose="020B0604020202020204" pitchFamily="34" charset="0"/>
              <a:buChar char="•"/>
            </a:pPr>
            <a:r>
              <a:rPr lang="en-US" sz="2400" b="1" dirty="0">
                <a:latin typeface="Neue Haas Grotesk Text Pro" panose="020B0504020202020204" pitchFamily="34" charset="0"/>
              </a:rPr>
              <a:t>Combinatorial Optimization (CO) Problems</a:t>
            </a:r>
            <a:r>
              <a:rPr lang="en-US" sz="2400" dirty="0">
                <a:latin typeface="Neue Haas Grotesk Text Pro" panose="020B0504020202020204" pitchFamily="34" charset="0"/>
              </a:rPr>
              <a:t>:</a:t>
            </a:r>
          </a:p>
          <a:p>
            <a:pPr marL="800100" lvl="1" indent="-342900">
              <a:buFont typeface="Arial" panose="020B0604020202020204" pitchFamily="34" charset="0"/>
              <a:buChar char="•"/>
            </a:pPr>
            <a:r>
              <a:rPr lang="en-US" sz="2400" dirty="0">
                <a:latin typeface="Neue Haas Grotesk Text Pro" panose="020B0504020202020204" pitchFamily="34" charset="0"/>
              </a:rPr>
              <a:t>Sphere Function: Smooth, unimodal, function where the  objective is to get as close to 0 as possible.</a:t>
            </a:r>
          </a:p>
          <a:p>
            <a:pPr marL="800100" lvl="1" indent="-342900">
              <a:buFont typeface="Arial" panose="020B0604020202020204" pitchFamily="34" charset="0"/>
              <a:buChar char="•"/>
            </a:pPr>
            <a:r>
              <a:rPr lang="en-US" sz="2400" dirty="0">
                <a:latin typeface="Neue Haas Grotesk Text Pro" panose="020B0504020202020204" pitchFamily="34" charset="0"/>
              </a:rPr>
              <a:t>Wireless Sensor Network (WSN): Optimizing sensor node coverage represented by circular discs over a square area. Tests multi-modal and spatial applications.</a:t>
            </a:r>
          </a:p>
          <a:p>
            <a:pPr marL="342900" indent="-342900">
              <a:buFont typeface="Arial" panose="020B0604020202020204" pitchFamily="34" charset="0"/>
              <a:buChar char="•"/>
            </a:pPr>
            <a:r>
              <a:rPr lang="en-US" sz="2400" b="1" dirty="0">
                <a:latin typeface="Neue Haas Grotesk Text Pro" panose="020B0504020202020204" pitchFamily="34" charset="0"/>
              </a:rPr>
              <a:t>Classifiers</a:t>
            </a:r>
            <a:r>
              <a:rPr lang="en-US" sz="2400" dirty="0">
                <a:latin typeface="Neue Haas Grotesk Text Pro" panose="020B0504020202020204" pitchFamily="34" charset="0"/>
              </a:rPr>
              <a:t>:</a:t>
            </a:r>
          </a:p>
          <a:p>
            <a:pPr marL="800100" lvl="1" indent="-342900">
              <a:buFont typeface="Arial" panose="020B0604020202020204" pitchFamily="34" charset="0"/>
              <a:buChar char="•"/>
            </a:pPr>
            <a:r>
              <a:rPr lang="en-US" sz="2400" dirty="0">
                <a:latin typeface="Neue Haas Grotesk Text Pro" panose="020B0504020202020204" pitchFamily="34" charset="0"/>
              </a:rPr>
              <a:t>SVM: Support-Vector Machines are a hyperparameter  sensitive classifier with a low amount of hyperparameters to optimize.</a:t>
            </a:r>
          </a:p>
          <a:p>
            <a:pPr marL="0" lvl="1"/>
            <a:r>
              <a:rPr lang="en-US" sz="2400" dirty="0">
                <a:latin typeface="Neue Haas Grotesk Text Pro" panose="020B0504020202020204" pitchFamily="34" charset="0"/>
              </a:rPr>
              <a:t>CO comparisons took place over 30 trials with random seeds 0-29 for reproducibility. While classifier measurements took place over 1 trial using the Iris Flower data set.</a:t>
            </a:r>
          </a:p>
        </p:txBody>
      </p:sp>
      <p:pic>
        <p:nvPicPr>
          <p:cNvPr id="12" name="Picture 11" descr="A graph of a function&#10;&#10;AI-generated content may be incorrect.">
            <a:extLst>
              <a:ext uri="{FF2B5EF4-FFF2-40B4-BE49-F238E27FC236}">
                <a16:creationId xmlns:a16="http://schemas.microsoft.com/office/drawing/2014/main" id="{349AD40C-BCEF-E9D2-BE30-7A73BB15A9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67419" y="4557875"/>
            <a:ext cx="7847993" cy="4708796"/>
          </a:xfrm>
          <a:prstGeom prst="rect">
            <a:avLst/>
          </a:prstGeom>
        </p:spPr>
      </p:pic>
      <p:graphicFrame>
        <p:nvGraphicFramePr>
          <p:cNvPr id="14" name="Table 13">
            <a:extLst>
              <a:ext uri="{FF2B5EF4-FFF2-40B4-BE49-F238E27FC236}">
                <a16:creationId xmlns:a16="http://schemas.microsoft.com/office/drawing/2014/main" id="{BCF6AA36-F446-2C45-C2D0-68641E49AA7E}"/>
              </a:ext>
            </a:extLst>
          </p:cNvPr>
          <p:cNvGraphicFramePr>
            <a:graphicFrameLocks noGrp="1"/>
          </p:cNvGraphicFramePr>
          <p:nvPr>
            <p:extLst>
              <p:ext uri="{D42A27DB-BD31-4B8C-83A1-F6EECF244321}">
                <p14:modId xmlns:p14="http://schemas.microsoft.com/office/powerpoint/2010/main" val="2228907601"/>
              </p:ext>
            </p:extLst>
          </p:nvPr>
        </p:nvGraphicFramePr>
        <p:xfrm>
          <a:off x="10638348" y="9492603"/>
          <a:ext cx="5372359" cy="1371600"/>
        </p:xfrm>
        <a:graphic>
          <a:graphicData uri="http://schemas.openxmlformats.org/drawingml/2006/table">
            <a:tbl>
              <a:tblPr bandRow="1">
                <a:tableStyleId>{9D7B26C5-4107-4FEC-AEDC-1716B250A1EF}</a:tableStyleId>
              </a:tblPr>
              <a:tblGrid>
                <a:gridCol w="1346814">
                  <a:extLst>
                    <a:ext uri="{9D8B030D-6E8A-4147-A177-3AD203B41FA5}">
                      <a16:colId xmlns:a16="http://schemas.microsoft.com/office/drawing/2014/main" val="917758572"/>
                    </a:ext>
                  </a:extLst>
                </a:gridCol>
                <a:gridCol w="1314038">
                  <a:extLst>
                    <a:ext uri="{9D8B030D-6E8A-4147-A177-3AD203B41FA5}">
                      <a16:colId xmlns:a16="http://schemas.microsoft.com/office/drawing/2014/main" val="2433855528"/>
                    </a:ext>
                  </a:extLst>
                </a:gridCol>
                <a:gridCol w="1424286">
                  <a:extLst>
                    <a:ext uri="{9D8B030D-6E8A-4147-A177-3AD203B41FA5}">
                      <a16:colId xmlns:a16="http://schemas.microsoft.com/office/drawing/2014/main" val="1501853765"/>
                    </a:ext>
                  </a:extLst>
                </a:gridCol>
                <a:gridCol w="1287221">
                  <a:extLst>
                    <a:ext uri="{9D8B030D-6E8A-4147-A177-3AD203B41FA5}">
                      <a16:colId xmlns:a16="http://schemas.microsoft.com/office/drawing/2014/main" val="1662004872"/>
                    </a:ext>
                  </a:extLst>
                </a:gridCol>
              </a:tblGrid>
              <a:tr h="342900">
                <a:tc>
                  <a:txBody>
                    <a:bodyPr/>
                    <a:lstStyle/>
                    <a:p>
                      <a:pPr algn="l" fontAlgn="b">
                        <a:buNone/>
                      </a:pPr>
                      <a:r>
                        <a:rPr lang="en-US" sz="1600" b="1" u="none" strike="noStrike" dirty="0">
                          <a:effectLst/>
                        </a:rPr>
                        <a:t> </a:t>
                      </a:r>
                      <a:endParaRPr lang="en-US" sz="1600" b="1"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ctr" fontAlgn="b">
                        <a:buNone/>
                      </a:pPr>
                      <a:r>
                        <a:rPr lang="en-US" sz="1600" b="1" u="none" strike="noStrike" dirty="0">
                          <a:effectLst/>
                        </a:rPr>
                        <a:t>Raw P-Value</a:t>
                      </a:r>
                      <a:endParaRPr lang="en-US" sz="1600" b="1"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ctr" fontAlgn="b">
                        <a:buNone/>
                      </a:pPr>
                      <a:r>
                        <a:rPr lang="en-US" sz="1600" b="1" u="none" strike="noStrike" dirty="0">
                          <a:effectLst/>
                        </a:rPr>
                        <a:t>Holm P-Value</a:t>
                      </a:r>
                      <a:endParaRPr lang="en-US" sz="1600" b="1"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ctr" fontAlgn="b">
                        <a:buNone/>
                      </a:pPr>
                      <a:r>
                        <a:rPr lang="en-US" sz="1600" b="1" u="none" strike="noStrike" dirty="0">
                          <a:effectLst/>
                        </a:rPr>
                        <a:t>Significant</a:t>
                      </a:r>
                      <a:endParaRPr lang="en-US" sz="1600" b="1" i="0" u="none" strike="noStrike" dirty="0">
                        <a:solidFill>
                          <a:srgbClr val="000000"/>
                        </a:solidFill>
                        <a:effectLst/>
                        <a:latin typeface="Neue Haas Grotesk Text Pro" panose="020B0504020202020204" pitchFamily="34" charset="0"/>
                      </a:endParaRPr>
                    </a:p>
                  </a:txBody>
                  <a:tcPr marL="17145" marR="17145" marT="17145" marB="0" anchor="b"/>
                </a:tc>
                <a:extLst>
                  <a:ext uri="{0D108BD9-81ED-4DB2-BD59-A6C34878D82A}">
                    <a16:rowId xmlns:a16="http://schemas.microsoft.com/office/drawing/2014/main" val="3786548646"/>
                  </a:ext>
                </a:extLst>
              </a:tr>
              <a:tr h="342900">
                <a:tc>
                  <a:txBody>
                    <a:bodyPr/>
                    <a:lstStyle/>
                    <a:p>
                      <a:pPr algn="l" fontAlgn="b">
                        <a:buNone/>
                      </a:pPr>
                      <a:r>
                        <a:rPr lang="en-US" sz="1600" b="1" u="none" strike="noStrike" dirty="0">
                          <a:effectLst/>
                        </a:rPr>
                        <a:t>SFOA vs PSO</a:t>
                      </a:r>
                      <a:endParaRPr lang="en-US" sz="1600" b="1"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r" fontAlgn="b">
                        <a:buNone/>
                      </a:pPr>
                      <a:r>
                        <a:rPr lang="en-US" sz="1600" u="none" strike="noStrike" dirty="0">
                          <a:effectLst/>
                        </a:rPr>
                        <a:t>1.86E-09</a:t>
                      </a:r>
                      <a:endParaRPr lang="en-US" sz="1600" b="0"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r" fontAlgn="b">
                        <a:buNone/>
                      </a:pPr>
                      <a:r>
                        <a:rPr lang="en-US" sz="1600" u="none" strike="noStrike" dirty="0">
                          <a:effectLst/>
                        </a:rPr>
                        <a:t>1.67E-02</a:t>
                      </a:r>
                      <a:endParaRPr lang="en-US" sz="1600" b="0"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l" fontAlgn="b">
                        <a:buNone/>
                      </a:pPr>
                      <a:r>
                        <a:rPr lang="en-US" sz="1600" u="none" strike="noStrike" dirty="0">
                          <a:effectLst/>
                        </a:rPr>
                        <a:t>Yes</a:t>
                      </a:r>
                      <a:endParaRPr lang="en-US" sz="1600" b="0" i="0" u="none" strike="noStrike" dirty="0">
                        <a:solidFill>
                          <a:srgbClr val="000000"/>
                        </a:solidFill>
                        <a:effectLst/>
                        <a:latin typeface="Neue Haas Grotesk Text Pro" panose="020B0504020202020204" pitchFamily="34" charset="0"/>
                      </a:endParaRPr>
                    </a:p>
                  </a:txBody>
                  <a:tcPr marL="17145" marR="17145" marT="17145" marB="0" anchor="b"/>
                </a:tc>
                <a:extLst>
                  <a:ext uri="{0D108BD9-81ED-4DB2-BD59-A6C34878D82A}">
                    <a16:rowId xmlns:a16="http://schemas.microsoft.com/office/drawing/2014/main" val="1711770628"/>
                  </a:ext>
                </a:extLst>
              </a:tr>
              <a:tr h="342900">
                <a:tc>
                  <a:txBody>
                    <a:bodyPr/>
                    <a:lstStyle/>
                    <a:p>
                      <a:pPr algn="l" fontAlgn="b">
                        <a:buNone/>
                      </a:pPr>
                      <a:r>
                        <a:rPr lang="en-US" sz="1600" b="1" u="none" strike="noStrike" dirty="0">
                          <a:effectLst/>
                        </a:rPr>
                        <a:t>SFOA vs DE</a:t>
                      </a:r>
                      <a:endParaRPr lang="en-US" sz="1600" b="1"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r" fontAlgn="b">
                        <a:buNone/>
                      </a:pPr>
                      <a:r>
                        <a:rPr lang="en-US" sz="1600" u="none" strike="noStrike" dirty="0">
                          <a:effectLst/>
                        </a:rPr>
                        <a:t>1.86E-09</a:t>
                      </a:r>
                      <a:endParaRPr lang="en-US" sz="1600" b="0"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r" fontAlgn="b">
                        <a:buNone/>
                      </a:pPr>
                      <a:r>
                        <a:rPr lang="en-US" sz="1600" u="none" strike="noStrike" dirty="0">
                          <a:effectLst/>
                        </a:rPr>
                        <a:t>2.50E-02</a:t>
                      </a:r>
                      <a:endParaRPr lang="en-US" sz="1600" b="0"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l" fontAlgn="b">
                        <a:buNone/>
                      </a:pPr>
                      <a:r>
                        <a:rPr lang="en-US" sz="1600" u="none" strike="noStrike" dirty="0">
                          <a:effectLst/>
                        </a:rPr>
                        <a:t>Yes</a:t>
                      </a:r>
                      <a:endParaRPr lang="en-US" sz="1600" b="0" i="0" u="none" strike="noStrike" dirty="0">
                        <a:solidFill>
                          <a:srgbClr val="000000"/>
                        </a:solidFill>
                        <a:effectLst/>
                        <a:latin typeface="Neue Haas Grotesk Text Pro" panose="020B0504020202020204" pitchFamily="34" charset="0"/>
                      </a:endParaRPr>
                    </a:p>
                  </a:txBody>
                  <a:tcPr marL="17145" marR="17145" marT="17145" marB="0" anchor="b"/>
                </a:tc>
                <a:extLst>
                  <a:ext uri="{0D108BD9-81ED-4DB2-BD59-A6C34878D82A}">
                    <a16:rowId xmlns:a16="http://schemas.microsoft.com/office/drawing/2014/main" val="1521525434"/>
                  </a:ext>
                </a:extLst>
              </a:tr>
              <a:tr h="342900">
                <a:tc>
                  <a:txBody>
                    <a:bodyPr/>
                    <a:lstStyle/>
                    <a:p>
                      <a:pPr algn="l" fontAlgn="b">
                        <a:buNone/>
                      </a:pPr>
                      <a:r>
                        <a:rPr lang="en-US" sz="1600" b="1" u="none" strike="noStrike" dirty="0">
                          <a:effectLst/>
                        </a:rPr>
                        <a:t>PSO  vs DE</a:t>
                      </a:r>
                      <a:endParaRPr lang="en-US" sz="1600" b="1"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r" fontAlgn="b">
                        <a:buNone/>
                      </a:pPr>
                      <a:r>
                        <a:rPr lang="en-US" sz="1600" u="none" strike="noStrike" dirty="0">
                          <a:effectLst/>
                        </a:rPr>
                        <a:t>1.86E-09</a:t>
                      </a:r>
                      <a:endParaRPr lang="en-US" sz="1600" b="0"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r" fontAlgn="b">
                        <a:buNone/>
                      </a:pPr>
                      <a:r>
                        <a:rPr lang="en-US" sz="1600" u="none" strike="noStrike" dirty="0">
                          <a:effectLst/>
                        </a:rPr>
                        <a:t>5.00E-02</a:t>
                      </a:r>
                      <a:endParaRPr lang="en-US" sz="1600" b="0"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l" fontAlgn="b">
                        <a:buNone/>
                      </a:pPr>
                      <a:r>
                        <a:rPr lang="en-US" sz="1600" u="none" strike="noStrike" dirty="0">
                          <a:effectLst/>
                        </a:rPr>
                        <a:t>Yes</a:t>
                      </a:r>
                      <a:endParaRPr lang="en-US" sz="1600" b="0" i="0" u="none" strike="noStrike" dirty="0">
                        <a:solidFill>
                          <a:srgbClr val="000000"/>
                        </a:solidFill>
                        <a:effectLst/>
                        <a:latin typeface="Neue Haas Grotesk Text Pro" panose="020B0504020202020204" pitchFamily="34" charset="0"/>
                      </a:endParaRPr>
                    </a:p>
                  </a:txBody>
                  <a:tcPr marL="17145" marR="17145" marT="17145" marB="0" anchor="b"/>
                </a:tc>
                <a:extLst>
                  <a:ext uri="{0D108BD9-81ED-4DB2-BD59-A6C34878D82A}">
                    <a16:rowId xmlns:a16="http://schemas.microsoft.com/office/drawing/2014/main" val="516613543"/>
                  </a:ext>
                </a:extLst>
              </a:tr>
            </a:tbl>
          </a:graphicData>
        </a:graphic>
      </p:graphicFrame>
      <p:sp>
        <p:nvSpPr>
          <p:cNvPr id="15" name="TextBox 14">
            <a:extLst>
              <a:ext uri="{FF2B5EF4-FFF2-40B4-BE49-F238E27FC236}">
                <a16:creationId xmlns:a16="http://schemas.microsoft.com/office/drawing/2014/main" id="{31B42F7F-BE47-FD17-77CA-9DBB936DC822}"/>
              </a:ext>
            </a:extLst>
          </p:cNvPr>
          <p:cNvSpPr txBox="1"/>
          <p:nvPr/>
        </p:nvSpPr>
        <p:spPr>
          <a:xfrm>
            <a:off x="10638348" y="9124540"/>
            <a:ext cx="5372359" cy="368064"/>
          </a:xfrm>
          <a:prstGeom prst="rect">
            <a:avLst/>
          </a:prstGeom>
          <a:noFill/>
        </p:spPr>
        <p:txBody>
          <a:bodyPr wrap="square" rtlCol="0">
            <a:spAutoFit/>
          </a:bodyPr>
          <a:lstStyle/>
          <a:p>
            <a:r>
              <a:rPr lang="en-US" sz="1800" b="1" dirty="0">
                <a:latin typeface="Neue Haas Grotesk Text Pro" panose="020B0504020202020204" pitchFamily="34" charset="0"/>
              </a:rPr>
              <a:t>Table A. </a:t>
            </a:r>
            <a:r>
              <a:rPr lang="en-US" sz="1800" dirty="0">
                <a:latin typeface="Neue Haas Grotesk Text Pro" panose="020B0504020202020204" pitchFamily="34" charset="0"/>
              </a:rPr>
              <a:t>Sphere Significance</a:t>
            </a:r>
          </a:p>
        </p:txBody>
      </p:sp>
      <p:pic>
        <p:nvPicPr>
          <p:cNvPr id="16" name="Picture 15" descr="A graph of a number of different colored lines&#10;&#10;AI-generated content may be incorrect.">
            <a:extLst>
              <a:ext uri="{FF2B5EF4-FFF2-40B4-BE49-F238E27FC236}">
                <a16:creationId xmlns:a16="http://schemas.microsoft.com/office/drawing/2014/main" id="{218922BF-557D-7388-A775-C90D54FBF7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209859" y="13066613"/>
            <a:ext cx="6357834" cy="3814701"/>
          </a:xfrm>
          <a:prstGeom prst="rect">
            <a:avLst/>
          </a:prstGeom>
        </p:spPr>
      </p:pic>
      <p:pic>
        <p:nvPicPr>
          <p:cNvPr id="17" name="Picture 16" descr="A diagram of a fitness graph&#10;&#10;AI-generated content may be incorrect.">
            <a:extLst>
              <a:ext uri="{FF2B5EF4-FFF2-40B4-BE49-F238E27FC236}">
                <a16:creationId xmlns:a16="http://schemas.microsoft.com/office/drawing/2014/main" id="{E0096F53-3A55-25C5-634A-F3EB15F2107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38348" y="12928058"/>
            <a:ext cx="5372359" cy="4029269"/>
          </a:xfrm>
          <a:prstGeom prst="rect">
            <a:avLst/>
          </a:prstGeom>
        </p:spPr>
      </p:pic>
      <p:graphicFrame>
        <p:nvGraphicFramePr>
          <p:cNvPr id="18" name="Table 17">
            <a:extLst>
              <a:ext uri="{FF2B5EF4-FFF2-40B4-BE49-F238E27FC236}">
                <a16:creationId xmlns:a16="http://schemas.microsoft.com/office/drawing/2014/main" id="{8938595D-FAD5-6AD8-D424-1809C27CB531}"/>
              </a:ext>
            </a:extLst>
          </p:cNvPr>
          <p:cNvGraphicFramePr>
            <a:graphicFrameLocks noGrp="1"/>
          </p:cNvGraphicFramePr>
          <p:nvPr>
            <p:extLst>
              <p:ext uri="{D42A27DB-BD31-4B8C-83A1-F6EECF244321}">
                <p14:modId xmlns:p14="http://schemas.microsoft.com/office/powerpoint/2010/main" val="1433476488"/>
              </p:ext>
            </p:extLst>
          </p:nvPr>
        </p:nvGraphicFramePr>
        <p:xfrm>
          <a:off x="10638348" y="17544052"/>
          <a:ext cx="3187095" cy="1277720"/>
        </p:xfrm>
        <a:graphic>
          <a:graphicData uri="http://schemas.openxmlformats.org/drawingml/2006/table">
            <a:tbl>
              <a:tblPr bandRow="1">
                <a:tableStyleId>{9D7B26C5-4107-4FEC-AEDC-1716B250A1EF}</a:tableStyleId>
              </a:tblPr>
              <a:tblGrid>
                <a:gridCol w="1062365">
                  <a:extLst>
                    <a:ext uri="{9D8B030D-6E8A-4147-A177-3AD203B41FA5}">
                      <a16:colId xmlns:a16="http://schemas.microsoft.com/office/drawing/2014/main" val="2598898343"/>
                    </a:ext>
                  </a:extLst>
                </a:gridCol>
                <a:gridCol w="1062365">
                  <a:extLst>
                    <a:ext uri="{9D8B030D-6E8A-4147-A177-3AD203B41FA5}">
                      <a16:colId xmlns:a16="http://schemas.microsoft.com/office/drawing/2014/main" val="4107408605"/>
                    </a:ext>
                  </a:extLst>
                </a:gridCol>
                <a:gridCol w="1062365">
                  <a:extLst>
                    <a:ext uri="{9D8B030D-6E8A-4147-A177-3AD203B41FA5}">
                      <a16:colId xmlns:a16="http://schemas.microsoft.com/office/drawing/2014/main" val="3321076189"/>
                    </a:ext>
                  </a:extLst>
                </a:gridCol>
              </a:tblGrid>
              <a:tr h="319430">
                <a:tc>
                  <a:txBody>
                    <a:bodyPr/>
                    <a:lstStyle/>
                    <a:p>
                      <a:pPr algn="l" fontAlgn="b">
                        <a:buNone/>
                      </a:pPr>
                      <a:r>
                        <a:rPr lang="en-US" sz="1600" u="none" strike="noStrike" dirty="0">
                          <a:effectLst/>
                        </a:rPr>
                        <a:t> </a:t>
                      </a:r>
                      <a:endParaRPr lang="en-US" sz="1600" b="0"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l" fontAlgn="b">
                        <a:buNone/>
                      </a:pPr>
                      <a:r>
                        <a:rPr lang="en-US" sz="1600" b="1" u="none" strike="noStrike" dirty="0">
                          <a:effectLst/>
                        </a:rPr>
                        <a:t>Success</a:t>
                      </a:r>
                      <a:endParaRPr lang="en-US" sz="1600" b="1"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l" fontAlgn="b">
                        <a:buNone/>
                      </a:pPr>
                      <a:r>
                        <a:rPr lang="en-US" sz="1600" b="1" u="none" strike="noStrike" dirty="0">
                          <a:effectLst/>
                        </a:rPr>
                        <a:t>Failure</a:t>
                      </a:r>
                      <a:endParaRPr lang="en-US" sz="1600" b="1" i="0" u="none" strike="noStrike" dirty="0">
                        <a:solidFill>
                          <a:srgbClr val="000000"/>
                        </a:solidFill>
                        <a:effectLst/>
                        <a:latin typeface="Neue Haas Grotesk Text Pro" panose="020B0504020202020204" pitchFamily="34" charset="0"/>
                      </a:endParaRPr>
                    </a:p>
                  </a:txBody>
                  <a:tcPr marL="17145" marR="17145" marT="17145" marB="0" anchor="b"/>
                </a:tc>
                <a:extLst>
                  <a:ext uri="{0D108BD9-81ED-4DB2-BD59-A6C34878D82A}">
                    <a16:rowId xmlns:a16="http://schemas.microsoft.com/office/drawing/2014/main" val="3281028196"/>
                  </a:ext>
                </a:extLst>
              </a:tr>
              <a:tr h="319430">
                <a:tc>
                  <a:txBody>
                    <a:bodyPr/>
                    <a:lstStyle/>
                    <a:p>
                      <a:pPr algn="l" fontAlgn="b">
                        <a:buNone/>
                      </a:pPr>
                      <a:r>
                        <a:rPr lang="en-US" sz="1600" b="1" u="none" strike="noStrike" dirty="0">
                          <a:effectLst/>
                        </a:rPr>
                        <a:t>SFOA</a:t>
                      </a:r>
                      <a:endParaRPr lang="en-US" sz="1600" b="1"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r" fontAlgn="b">
                        <a:buNone/>
                      </a:pPr>
                      <a:r>
                        <a:rPr lang="en-US" sz="1600" u="none" strike="noStrike" dirty="0">
                          <a:effectLst/>
                        </a:rPr>
                        <a:t>28</a:t>
                      </a:r>
                      <a:endParaRPr lang="en-US" sz="1600" b="0"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r" fontAlgn="b">
                        <a:buNone/>
                      </a:pPr>
                      <a:r>
                        <a:rPr lang="en-US" sz="1600" u="none" strike="noStrike" dirty="0">
                          <a:effectLst/>
                        </a:rPr>
                        <a:t>2</a:t>
                      </a:r>
                      <a:endParaRPr lang="en-US" sz="1600" b="0" i="0" u="none" strike="noStrike" dirty="0">
                        <a:solidFill>
                          <a:srgbClr val="000000"/>
                        </a:solidFill>
                        <a:effectLst/>
                        <a:latin typeface="Neue Haas Grotesk Text Pro" panose="020B0504020202020204" pitchFamily="34" charset="0"/>
                      </a:endParaRPr>
                    </a:p>
                  </a:txBody>
                  <a:tcPr marL="17145" marR="17145" marT="17145" marB="0" anchor="b"/>
                </a:tc>
                <a:extLst>
                  <a:ext uri="{0D108BD9-81ED-4DB2-BD59-A6C34878D82A}">
                    <a16:rowId xmlns:a16="http://schemas.microsoft.com/office/drawing/2014/main" val="1130328052"/>
                  </a:ext>
                </a:extLst>
              </a:tr>
              <a:tr h="319430">
                <a:tc>
                  <a:txBody>
                    <a:bodyPr/>
                    <a:lstStyle/>
                    <a:p>
                      <a:pPr algn="l" fontAlgn="b">
                        <a:buNone/>
                      </a:pPr>
                      <a:r>
                        <a:rPr lang="en-US" sz="1600" b="1" u="none" strike="noStrike" dirty="0">
                          <a:effectLst/>
                        </a:rPr>
                        <a:t>PSO</a:t>
                      </a:r>
                      <a:endParaRPr lang="en-US" sz="1600" b="1"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r" fontAlgn="b">
                        <a:buNone/>
                      </a:pPr>
                      <a:r>
                        <a:rPr lang="en-US" sz="1600" u="none" strike="noStrike" dirty="0">
                          <a:effectLst/>
                        </a:rPr>
                        <a:t>30</a:t>
                      </a:r>
                      <a:endParaRPr lang="en-US" sz="1600" b="0"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r" fontAlgn="b">
                        <a:buNone/>
                      </a:pPr>
                      <a:r>
                        <a:rPr lang="en-US" sz="1600" u="none" strike="noStrike" dirty="0">
                          <a:effectLst/>
                        </a:rPr>
                        <a:t>0</a:t>
                      </a:r>
                      <a:endParaRPr lang="en-US" sz="1600" b="0" i="0" u="none" strike="noStrike" dirty="0">
                        <a:solidFill>
                          <a:srgbClr val="000000"/>
                        </a:solidFill>
                        <a:effectLst/>
                        <a:latin typeface="Neue Haas Grotesk Text Pro" panose="020B0504020202020204" pitchFamily="34" charset="0"/>
                      </a:endParaRPr>
                    </a:p>
                  </a:txBody>
                  <a:tcPr marL="17145" marR="17145" marT="17145" marB="0" anchor="b"/>
                </a:tc>
                <a:extLst>
                  <a:ext uri="{0D108BD9-81ED-4DB2-BD59-A6C34878D82A}">
                    <a16:rowId xmlns:a16="http://schemas.microsoft.com/office/drawing/2014/main" val="1899866706"/>
                  </a:ext>
                </a:extLst>
              </a:tr>
              <a:tr h="319430">
                <a:tc>
                  <a:txBody>
                    <a:bodyPr/>
                    <a:lstStyle/>
                    <a:p>
                      <a:pPr algn="l" fontAlgn="b">
                        <a:buNone/>
                      </a:pPr>
                      <a:r>
                        <a:rPr lang="en-US" sz="1600" b="1" u="none" strike="noStrike" dirty="0">
                          <a:effectLst/>
                        </a:rPr>
                        <a:t>DE</a:t>
                      </a:r>
                      <a:endParaRPr lang="en-US" sz="1600" b="1"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r" fontAlgn="b">
                        <a:buNone/>
                      </a:pPr>
                      <a:r>
                        <a:rPr lang="en-US" sz="1600" u="none" strike="noStrike" dirty="0">
                          <a:effectLst/>
                        </a:rPr>
                        <a:t>0</a:t>
                      </a:r>
                      <a:endParaRPr lang="en-US" sz="1600" b="0" i="0" u="none" strike="noStrike" dirty="0">
                        <a:solidFill>
                          <a:srgbClr val="000000"/>
                        </a:solidFill>
                        <a:effectLst/>
                        <a:latin typeface="Neue Haas Grotesk Text Pro" panose="020B0504020202020204" pitchFamily="34" charset="0"/>
                      </a:endParaRPr>
                    </a:p>
                  </a:txBody>
                  <a:tcPr marL="17145" marR="17145" marT="17145" marB="0" anchor="b"/>
                </a:tc>
                <a:tc>
                  <a:txBody>
                    <a:bodyPr/>
                    <a:lstStyle/>
                    <a:p>
                      <a:pPr algn="r" fontAlgn="b">
                        <a:buNone/>
                      </a:pPr>
                      <a:r>
                        <a:rPr lang="en-US" sz="1600" u="none" strike="noStrike" dirty="0">
                          <a:effectLst/>
                        </a:rPr>
                        <a:t>30</a:t>
                      </a:r>
                      <a:endParaRPr lang="en-US" sz="1600" b="0" i="0" u="none" strike="noStrike" dirty="0">
                        <a:solidFill>
                          <a:srgbClr val="000000"/>
                        </a:solidFill>
                        <a:effectLst/>
                        <a:latin typeface="Neue Haas Grotesk Text Pro" panose="020B0504020202020204" pitchFamily="34" charset="0"/>
                      </a:endParaRPr>
                    </a:p>
                  </a:txBody>
                  <a:tcPr marL="17145" marR="17145" marT="17145" marB="0" anchor="b"/>
                </a:tc>
                <a:extLst>
                  <a:ext uri="{0D108BD9-81ED-4DB2-BD59-A6C34878D82A}">
                    <a16:rowId xmlns:a16="http://schemas.microsoft.com/office/drawing/2014/main" val="3420723817"/>
                  </a:ext>
                </a:extLst>
              </a:tr>
            </a:tbl>
          </a:graphicData>
        </a:graphic>
      </p:graphicFrame>
      <p:graphicFrame>
        <p:nvGraphicFramePr>
          <p:cNvPr id="19" name="Table 18">
            <a:extLst>
              <a:ext uri="{FF2B5EF4-FFF2-40B4-BE49-F238E27FC236}">
                <a16:creationId xmlns:a16="http://schemas.microsoft.com/office/drawing/2014/main" id="{4FDF36E7-3984-4126-17CF-1F69255E412E}"/>
              </a:ext>
            </a:extLst>
          </p:cNvPr>
          <p:cNvGraphicFramePr>
            <a:graphicFrameLocks noGrp="1"/>
          </p:cNvGraphicFramePr>
          <p:nvPr>
            <p:extLst>
              <p:ext uri="{D42A27DB-BD31-4B8C-83A1-F6EECF244321}">
                <p14:modId xmlns:p14="http://schemas.microsoft.com/office/powerpoint/2010/main" val="2709637301"/>
              </p:ext>
            </p:extLst>
          </p:nvPr>
        </p:nvGraphicFramePr>
        <p:xfrm>
          <a:off x="17209880" y="17544052"/>
          <a:ext cx="5357813" cy="1277720"/>
        </p:xfrm>
        <a:graphic>
          <a:graphicData uri="http://schemas.openxmlformats.org/drawingml/2006/table">
            <a:tbl>
              <a:tblPr bandRow="1">
                <a:tableStyleId>{9D7B26C5-4107-4FEC-AEDC-1716B250A1EF}</a:tableStyleId>
              </a:tblPr>
              <a:tblGrid>
                <a:gridCol w="1445895">
                  <a:extLst>
                    <a:ext uri="{9D8B030D-6E8A-4147-A177-3AD203B41FA5}">
                      <a16:colId xmlns:a16="http://schemas.microsoft.com/office/drawing/2014/main" val="2208592315"/>
                    </a:ext>
                  </a:extLst>
                </a:gridCol>
                <a:gridCol w="1300163">
                  <a:extLst>
                    <a:ext uri="{9D8B030D-6E8A-4147-A177-3AD203B41FA5}">
                      <a16:colId xmlns:a16="http://schemas.microsoft.com/office/drawing/2014/main" val="649252545"/>
                    </a:ext>
                  </a:extLst>
                </a:gridCol>
                <a:gridCol w="1377315">
                  <a:extLst>
                    <a:ext uri="{9D8B030D-6E8A-4147-A177-3AD203B41FA5}">
                      <a16:colId xmlns:a16="http://schemas.microsoft.com/office/drawing/2014/main" val="1596539133"/>
                    </a:ext>
                  </a:extLst>
                </a:gridCol>
                <a:gridCol w="1234440">
                  <a:extLst>
                    <a:ext uri="{9D8B030D-6E8A-4147-A177-3AD203B41FA5}">
                      <a16:colId xmlns:a16="http://schemas.microsoft.com/office/drawing/2014/main" val="1703715459"/>
                    </a:ext>
                  </a:extLst>
                </a:gridCol>
              </a:tblGrid>
              <a:tr h="319430">
                <a:tc>
                  <a:txBody>
                    <a:bodyPr/>
                    <a:lstStyle/>
                    <a:p>
                      <a:pPr algn="l" fontAlgn="b">
                        <a:buNone/>
                      </a:pPr>
                      <a:r>
                        <a:rPr lang="en-US" sz="1600" u="none" strike="noStrike" dirty="0">
                          <a:effectLst/>
                          <a:latin typeface="+mn-lt"/>
                        </a:rPr>
                        <a:t> </a:t>
                      </a:r>
                      <a:endParaRPr lang="en-US" sz="1600" b="0" i="0" u="none" strike="noStrike" dirty="0">
                        <a:solidFill>
                          <a:srgbClr val="000000"/>
                        </a:solidFill>
                        <a:effectLst/>
                        <a:latin typeface="+mn-lt"/>
                      </a:endParaRPr>
                    </a:p>
                  </a:txBody>
                  <a:tcPr marL="17145" marR="17145" marT="17145" marB="0" anchor="b"/>
                </a:tc>
                <a:tc>
                  <a:txBody>
                    <a:bodyPr/>
                    <a:lstStyle/>
                    <a:p>
                      <a:pPr algn="ctr" fontAlgn="b">
                        <a:buNone/>
                      </a:pPr>
                      <a:r>
                        <a:rPr lang="en-US" sz="1600" b="1" u="none" strike="noStrike" dirty="0">
                          <a:effectLst/>
                          <a:latin typeface="+mn-lt"/>
                        </a:rPr>
                        <a:t>Raw P-Value</a:t>
                      </a:r>
                      <a:endParaRPr lang="en-US" sz="1600" b="1" i="0" u="none" strike="noStrike" dirty="0">
                        <a:solidFill>
                          <a:srgbClr val="000000"/>
                        </a:solidFill>
                        <a:effectLst/>
                        <a:latin typeface="+mn-lt"/>
                      </a:endParaRPr>
                    </a:p>
                  </a:txBody>
                  <a:tcPr marL="17145" marR="17145" marT="17145" marB="0" anchor="b"/>
                </a:tc>
                <a:tc>
                  <a:txBody>
                    <a:bodyPr/>
                    <a:lstStyle/>
                    <a:p>
                      <a:pPr algn="ctr" fontAlgn="b">
                        <a:buNone/>
                      </a:pPr>
                      <a:r>
                        <a:rPr lang="en-US" sz="1600" b="1" u="none" strike="noStrike" dirty="0">
                          <a:effectLst/>
                          <a:latin typeface="+mn-lt"/>
                        </a:rPr>
                        <a:t>Holm P-Value</a:t>
                      </a:r>
                      <a:endParaRPr lang="en-US" sz="1600" b="1" i="0" u="none" strike="noStrike" dirty="0">
                        <a:solidFill>
                          <a:srgbClr val="000000"/>
                        </a:solidFill>
                        <a:effectLst/>
                        <a:latin typeface="+mn-lt"/>
                      </a:endParaRPr>
                    </a:p>
                  </a:txBody>
                  <a:tcPr marL="17145" marR="17145" marT="17145" marB="0" anchor="b"/>
                </a:tc>
                <a:tc>
                  <a:txBody>
                    <a:bodyPr/>
                    <a:lstStyle/>
                    <a:p>
                      <a:pPr algn="ctr" fontAlgn="b">
                        <a:buNone/>
                      </a:pPr>
                      <a:r>
                        <a:rPr lang="en-US" sz="1600" b="1" u="none" strike="noStrike" dirty="0">
                          <a:effectLst/>
                          <a:latin typeface="+mn-lt"/>
                        </a:rPr>
                        <a:t>Significant</a:t>
                      </a:r>
                      <a:endParaRPr lang="en-US" sz="1600" b="1" i="0" u="none" strike="noStrike" dirty="0">
                        <a:solidFill>
                          <a:srgbClr val="000000"/>
                        </a:solidFill>
                        <a:effectLst/>
                        <a:latin typeface="+mn-lt"/>
                      </a:endParaRPr>
                    </a:p>
                  </a:txBody>
                  <a:tcPr marL="17145" marR="17145" marT="17145" marB="0" anchor="b"/>
                </a:tc>
                <a:extLst>
                  <a:ext uri="{0D108BD9-81ED-4DB2-BD59-A6C34878D82A}">
                    <a16:rowId xmlns:a16="http://schemas.microsoft.com/office/drawing/2014/main" val="3666669991"/>
                  </a:ext>
                </a:extLst>
              </a:tr>
              <a:tr h="319430">
                <a:tc>
                  <a:txBody>
                    <a:bodyPr/>
                    <a:lstStyle/>
                    <a:p>
                      <a:pPr algn="l" fontAlgn="b">
                        <a:buNone/>
                      </a:pPr>
                      <a:r>
                        <a:rPr lang="en-US" sz="1600" b="1" i="0" u="none" strike="noStrike" dirty="0">
                          <a:solidFill>
                            <a:srgbClr val="000000"/>
                          </a:solidFill>
                          <a:effectLst/>
                          <a:latin typeface="+mn-lt"/>
                        </a:rPr>
                        <a:t>SFOA vs DE</a:t>
                      </a:r>
                    </a:p>
                  </a:txBody>
                  <a:tcPr marL="17145" marR="17145" marT="17145" marB="0" anchor="b"/>
                </a:tc>
                <a:tc>
                  <a:txBody>
                    <a:bodyPr/>
                    <a:lstStyle/>
                    <a:p>
                      <a:pPr marL="0" marR="0" lvl="0" indent="0" algn="r" defTabSz="292608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mn-lt"/>
                        </a:rPr>
                        <a:t>1.73E-06</a:t>
                      </a:r>
                    </a:p>
                  </a:txBody>
                  <a:tcPr marL="17145" marR="17145" marT="17145" marB="0" anchor="b"/>
                </a:tc>
                <a:tc>
                  <a:txBody>
                    <a:bodyPr/>
                    <a:lstStyle/>
                    <a:p>
                      <a:pPr algn="r" fontAlgn="b">
                        <a:buNone/>
                      </a:pPr>
                      <a:r>
                        <a:rPr lang="en-US" sz="1600" b="0" i="0" u="none" strike="noStrike" dirty="0">
                          <a:solidFill>
                            <a:srgbClr val="000000"/>
                          </a:solidFill>
                          <a:effectLst/>
                          <a:latin typeface="+mn-lt"/>
                        </a:rPr>
                        <a:t>1.67E-02</a:t>
                      </a:r>
                    </a:p>
                  </a:txBody>
                  <a:tcPr marL="17145" marR="17145" marT="17145" marB="0" anchor="b"/>
                </a:tc>
                <a:tc>
                  <a:txBody>
                    <a:bodyPr/>
                    <a:lstStyle/>
                    <a:p>
                      <a:pPr algn="l" fontAlgn="b">
                        <a:buNone/>
                      </a:pPr>
                      <a:r>
                        <a:rPr lang="en-US" sz="1600" b="0" i="0" u="none" strike="noStrike" dirty="0">
                          <a:solidFill>
                            <a:srgbClr val="000000"/>
                          </a:solidFill>
                          <a:effectLst/>
                          <a:latin typeface="+mn-lt"/>
                        </a:rPr>
                        <a:t>Yes</a:t>
                      </a:r>
                    </a:p>
                  </a:txBody>
                  <a:tcPr marL="17145" marR="17145" marT="17145" marB="0" anchor="b"/>
                </a:tc>
                <a:extLst>
                  <a:ext uri="{0D108BD9-81ED-4DB2-BD59-A6C34878D82A}">
                    <a16:rowId xmlns:a16="http://schemas.microsoft.com/office/drawing/2014/main" val="1155705010"/>
                  </a:ext>
                </a:extLst>
              </a:tr>
              <a:tr h="319430">
                <a:tc>
                  <a:txBody>
                    <a:bodyPr/>
                    <a:lstStyle/>
                    <a:p>
                      <a:pPr algn="l" fontAlgn="b">
                        <a:buNone/>
                      </a:pPr>
                      <a:r>
                        <a:rPr lang="en-US" sz="1600" b="1" i="0" u="none" strike="noStrike" dirty="0">
                          <a:solidFill>
                            <a:srgbClr val="000000"/>
                          </a:solidFill>
                          <a:effectLst/>
                          <a:latin typeface="+mn-lt"/>
                        </a:rPr>
                        <a:t>PSO vs DE</a:t>
                      </a:r>
                    </a:p>
                  </a:txBody>
                  <a:tcPr marL="17145" marR="17145" marT="17145" marB="0" anchor="b"/>
                </a:tc>
                <a:tc>
                  <a:txBody>
                    <a:bodyPr/>
                    <a:lstStyle/>
                    <a:p>
                      <a:pPr marL="0" marR="0" lvl="0" indent="0" algn="r" defTabSz="292608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mn-lt"/>
                        </a:rPr>
                        <a:t>1.73E-06</a:t>
                      </a:r>
                    </a:p>
                  </a:txBody>
                  <a:tcPr marL="17145" marR="17145" marT="17145" marB="0" anchor="b"/>
                </a:tc>
                <a:tc>
                  <a:txBody>
                    <a:bodyPr/>
                    <a:lstStyle/>
                    <a:p>
                      <a:pPr algn="r" fontAlgn="b">
                        <a:buNone/>
                      </a:pPr>
                      <a:r>
                        <a:rPr lang="en-US" sz="1600" b="0" i="0" u="none" strike="noStrike" dirty="0">
                          <a:solidFill>
                            <a:srgbClr val="000000"/>
                          </a:solidFill>
                          <a:effectLst/>
                          <a:latin typeface="+mn-lt"/>
                        </a:rPr>
                        <a:t>2.5E-02</a:t>
                      </a:r>
                    </a:p>
                  </a:txBody>
                  <a:tcPr marL="17145" marR="17145" marT="17145" marB="0" anchor="b"/>
                </a:tc>
                <a:tc>
                  <a:txBody>
                    <a:bodyPr/>
                    <a:lstStyle/>
                    <a:p>
                      <a:pPr algn="l" fontAlgn="b">
                        <a:buNone/>
                      </a:pPr>
                      <a:r>
                        <a:rPr lang="en-US" sz="1600" b="0" i="0" u="none" strike="noStrike" dirty="0">
                          <a:solidFill>
                            <a:srgbClr val="000000"/>
                          </a:solidFill>
                          <a:effectLst/>
                          <a:latin typeface="+mn-lt"/>
                        </a:rPr>
                        <a:t>Yes</a:t>
                      </a:r>
                    </a:p>
                  </a:txBody>
                  <a:tcPr marL="17145" marR="17145" marT="17145" marB="0" anchor="b"/>
                </a:tc>
                <a:extLst>
                  <a:ext uri="{0D108BD9-81ED-4DB2-BD59-A6C34878D82A}">
                    <a16:rowId xmlns:a16="http://schemas.microsoft.com/office/drawing/2014/main" val="2798888676"/>
                  </a:ext>
                </a:extLst>
              </a:tr>
              <a:tr h="319430">
                <a:tc>
                  <a:txBody>
                    <a:bodyPr/>
                    <a:lstStyle/>
                    <a:p>
                      <a:pPr algn="l" fontAlgn="b">
                        <a:buNone/>
                      </a:pPr>
                      <a:r>
                        <a:rPr lang="en-US" sz="1600" b="1" i="0" u="none" strike="noStrike" dirty="0">
                          <a:solidFill>
                            <a:srgbClr val="000000"/>
                          </a:solidFill>
                          <a:effectLst/>
                          <a:latin typeface="+mn-lt"/>
                        </a:rPr>
                        <a:t>SFOA vs PSO</a:t>
                      </a:r>
                    </a:p>
                  </a:txBody>
                  <a:tcPr marL="17145" marR="17145" marT="17145" marB="0" anchor="b"/>
                </a:tc>
                <a:tc>
                  <a:txBody>
                    <a:bodyPr/>
                    <a:lstStyle/>
                    <a:p>
                      <a:pPr marL="0" marR="0" lvl="0" indent="0" algn="r" defTabSz="292608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mn-lt"/>
                        </a:rPr>
                        <a:t>1.18E-01</a:t>
                      </a:r>
                    </a:p>
                  </a:txBody>
                  <a:tcPr marL="17145" marR="17145" marT="17145" marB="0" anchor="b"/>
                </a:tc>
                <a:tc>
                  <a:txBody>
                    <a:bodyPr/>
                    <a:lstStyle/>
                    <a:p>
                      <a:pPr algn="r" fontAlgn="b">
                        <a:buNone/>
                      </a:pPr>
                      <a:r>
                        <a:rPr lang="en-US" sz="1600" b="0" i="0" u="none" strike="noStrike" dirty="0">
                          <a:solidFill>
                            <a:srgbClr val="000000"/>
                          </a:solidFill>
                          <a:effectLst/>
                          <a:latin typeface="+mn-lt"/>
                        </a:rPr>
                        <a:t>5.0E-02</a:t>
                      </a:r>
                    </a:p>
                  </a:txBody>
                  <a:tcPr marL="17145" marR="17145" marT="17145" marB="0" anchor="b"/>
                </a:tc>
                <a:tc>
                  <a:txBody>
                    <a:bodyPr/>
                    <a:lstStyle/>
                    <a:p>
                      <a:pPr algn="l" fontAlgn="b">
                        <a:buNone/>
                      </a:pPr>
                      <a:r>
                        <a:rPr lang="en-US" sz="1600" b="0" i="0" u="none" strike="noStrike" dirty="0">
                          <a:solidFill>
                            <a:srgbClr val="000000"/>
                          </a:solidFill>
                          <a:effectLst/>
                          <a:latin typeface="+mn-lt"/>
                        </a:rPr>
                        <a:t>No</a:t>
                      </a:r>
                    </a:p>
                  </a:txBody>
                  <a:tcPr marL="17145" marR="17145" marT="17145" marB="0" anchor="b"/>
                </a:tc>
                <a:extLst>
                  <a:ext uri="{0D108BD9-81ED-4DB2-BD59-A6C34878D82A}">
                    <a16:rowId xmlns:a16="http://schemas.microsoft.com/office/drawing/2014/main" val="710095017"/>
                  </a:ext>
                </a:extLst>
              </a:tr>
            </a:tbl>
          </a:graphicData>
        </a:graphic>
      </p:graphicFrame>
      <p:sp>
        <p:nvSpPr>
          <p:cNvPr id="20" name="TextBox 19">
            <a:extLst>
              <a:ext uri="{FF2B5EF4-FFF2-40B4-BE49-F238E27FC236}">
                <a16:creationId xmlns:a16="http://schemas.microsoft.com/office/drawing/2014/main" id="{8AB52CFB-884E-C4DE-AAAC-675C0164A4E4}"/>
              </a:ext>
            </a:extLst>
          </p:cNvPr>
          <p:cNvSpPr txBox="1"/>
          <p:nvPr/>
        </p:nvSpPr>
        <p:spPr>
          <a:xfrm>
            <a:off x="10638347" y="17175988"/>
            <a:ext cx="6086901" cy="369332"/>
          </a:xfrm>
          <a:prstGeom prst="rect">
            <a:avLst/>
          </a:prstGeom>
          <a:noFill/>
        </p:spPr>
        <p:txBody>
          <a:bodyPr wrap="square" rtlCol="0">
            <a:spAutoFit/>
          </a:bodyPr>
          <a:lstStyle/>
          <a:p>
            <a:r>
              <a:rPr lang="en-US" sz="1800" b="1" dirty="0">
                <a:latin typeface="Neue Haas Grotesk Text Pro" panose="020B0504020202020204" pitchFamily="34" charset="0"/>
              </a:rPr>
              <a:t>Table B. </a:t>
            </a:r>
            <a:r>
              <a:rPr lang="en-US" sz="1800" dirty="0">
                <a:latin typeface="Neue Haas Grotesk Text Pro" panose="020B0504020202020204" pitchFamily="34" charset="0"/>
              </a:rPr>
              <a:t>WSN Success Rate (Within 0.02 of best run)</a:t>
            </a:r>
          </a:p>
        </p:txBody>
      </p:sp>
      <p:sp>
        <p:nvSpPr>
          <p:cNvPr id="21" name="TextBox 20">
            <a:extLst>
              <a:ext uri="{FF2B5EF4-FFF2-40B4-BE49-F238E27FC236}">
                <a16:creationId xmlns:a16="http://schemas.microsoft.com/office/drawing/2014/main" id="{65E12161-5E55-3A4B-2FE4-9E55536A6104}"/>
              </a:ext>
            </a:extLst>
          </p:cNvPr>
          <p:cNvSpPr txBox="1"/>
          <p:nvPr/>
        </p:nvSpPr>
        <p:spPr>
          <a:xfrm>
            <a:off x="17209880" y="17174720"/>
            <a:ext cx="6086901" cy="369332"/>
          </a:xfrm>
          <a:prstGeom prst="rect">
            <a:avLst/>
          </a:prstGeom>
          <a:noFill/>
        </p:spPr>
        <p:txBody>
          <a:bodyPr wrap="square" rtlCol="0">
            <a:spAutoFit/>
          </a:bodyPr>
          <a:lstStyle/>
          <a:p>
            <a:r>
              <a:rPr lang="en-US" sz="1800" b="1" dirty="0">
                <a:latin typeface="Neue Haas Grotesk Text Pro" panose="020B0504020202020204" pitchFamily="34" charset="0"/>
              </a:rPr>
              <a:t>Table C. </a:t>
            </a:r>
            <a:r>
              <a:rPr lang="en-US" sz="1800" dirty="0">
                <a:latin typeface="Neue Haas Grotesk Text Pro" panose="020B0504020202020204" pitchFamily="34" charset="0"/>
              </a:rPr>
              <a:t>WSN Significance</a:t>
            </a:r>
          </a:p>
        </p:txBody>
      </p:sp>
      <p:sp>
        <p:nvSpPr>
          <p:cNvPr id="22" name="TextBox 21">
            <a:extLst>
              <a:ext uri="{FF2B5EF4-FFF2-40B4-BE49-F238E27FC236}">
                <a16:creationId xmlns:a16="http://schemas.microsoft.com/office/drawing/2014/main" id="{5C9DBE10-7578-2F6C-1F68-9C90EB9AA058}"/>
              </a:ext>
            </a:extLst>
          </p:cNvPr>
          <p:cNvSpPr txBox="1"/>
          <p:nvPr/>
        </p:nvSpPr>
        <p:spPr>
          <a:xfrm>
            <a:off x="10634525" y="3632548"/>
            <a:ext cx="7611106" cy="923330"/>
          </a:xfrm>
          <a:prstGeom prst="rect">
            <a:avLst/>
          </a:prstGeom>
          <a:noFill/>
        </p:spPr>
        <p:txBody>
          <a:bodyPr wrap="square" rtlCol="0">
            <a:spAutoFit/>
          </a:bodyPr>
          <a:lstStyle/>
          <a:p>
            <a:r>
              <a:rPr lang="en-US" sz="5400" b="1" dirty="0">
                <a:solidFill>
                  <a:srgbClr val="F76902"/>
                </a:solidFill>
                <a:latin typeface="Neue Haas Grotesk Text Pro" panose="020B0504020202020204" pitchFamily="34" charset="0"/>
              </a:rPr>
              <a:t>Results</a:t>
            </a:r>
          </a:p>
        </p:txBody>
      </p:sp>
      <p:sp>
        <p:nvSpPr>
          <p:cNvPr id="23" name="Rectangle 22">
            <a:extLst>
              <a:ext uri="{FF2B5EF4-FFF2-40B4-BE49-F238E27FC236}">
                <a16:creationId xmlns:a16="http://schemas.microsoft.com/office/drawing/2014/main" id="{22B0D323-FF00-4F19-0F73-B558ECB29D7D}"/>
              </a:ext>
            </a:extLst>
          </p:cNvPr>
          <p:cNvSpPr/>
          <p:nvPr/>
        </p:nvSpPr>
        <p:spPr>
          <a:xfrm>
            <a:off x="10634525" y="11081398"/>
            <a:ext cx="11933167" cy="1690541"/>
          </a:xfrm>
          <a:prstGeom prst="rect">
            <a:avLst/>
          </a:prstGeom>
          <a:solidFill>
            <a:srgbClr val="FEB57E"/>
          </a:solidFill>
          <a:ln w="38100">
            <a:solidFill>
              <a:srgbClr val="F7690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dirty="0">
                <a:solidFill>
                  <a:schemeClr val="tx1"/>
                </a:solidFill>
              </a:rPr>
              <a:t>The above figures show the results for the sphere function benchmarks. In this problem, </a:t>
            </a:r>
            <a:r>
              <a:rPr lang="en-US" sz="2400" b="1" dirty="0">
                <a:solidFill>
                  <a:schemeClr val="tx1"/>
                </a:solidFill>
              </a:rPr>
              <a:t>SFOA greatly outperformed DE and PSO</a:t>
            </a:r>
            <a:r>
              <a:rPr lang="en-US" sz="2400" dirty="0">
                <a:solidFill>
                  <a:schemeClr val="tx1"/>
                </a:solidFill>
              </a:rPr>
              <a:t>. SFOA was the only technique to consistently converge on the theoretical minimum and did so </a:t>
            </a:r>
            <a:r>
              <a:rPr lang="en-US" sz="2400" b="1" dirty="0">
                <a:solidFill>
                  <a:schemeClr val="tx1"/>
                </a:solidFill>
              </a:rPr>
              <a:t>over 300 iterations faster </a:t>
            </a:r>
            <a:r>
              <a:rPr lang="en-US" sz="2400" dirty="0">
                <a:solidFill>
                  <a:schemeClr val="tx1"/>
                </a:solidFill>
              </a:rPr>
              <a:t>than PSO and DE. This is reinforced by the difference in solutions </a:t>
            </a:r>
            <a:r>
              <a:rPr lang="en-US" sz="2400" b="1" dirty="0">
                <a:solidFill>
                  <a:schemeClr val="tx1"/>
                </a:solidFill>
              </a:rPr>
              <a:t>being statistically significant.</a:t>
            </a:r>
          </a:p>
        </p:txBody>
      </p:sp>
      <p:sp>
        <p:nvSpPr>
          <p:cNvPr id="24" name="Rectangle 23">
            <a:extLst>
              <a:ext uri="{FF2B5EF4-FFF2-40B4-BE49-F238E27FC236}">
                <a16:creationId xmlns:a16="http://schemas.microsoft.com/office/drawing/2014/main" id="{C5A1D903-FC00-2EC2-B688-64EEB3127BF5}"/>
              </a:ext>
            </a:extLst>
          </p:cNvPr>
          <p:cNvSpPr/>
          <p:nvPr/>
        </p:nvSpPr>
        <p:spPr>
          <a:xfrm>
            <a:off x="10492615" y="19030334"/>
            <a:ext cx="12075077" cy="2760379"/>
          </a:xfrm>
          <a:prstGeom prst="rect">
            <a:avLst/>
          </a:prstGeom>
          <a:solidFill>
            <a:srgbClr val="FEB57E"/>
          </a:solidFill>
          <a:ln w="38100">
            <a:solidFill>
              <a:srgbClr val="F7690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dirty="0">
                <a:solidFill>
                  <a:schemeClr val="tx1"/>
                </a:solidFill>
              </a:rPr>
              <a:t>The above figures show the benchmarking for the WSN problem. In this problem, </a:t>
            </a:r>
            <a:r>
              <a:rPr lang="en-US" sz="2400" b="1" dirty="0">
                <a:solidFill>
                  <a:schemeClr val="tx1"/>
                </a:solidFill>
              </a:rPr>
              <a:t>performance between SFOA and PSO was closer</a:t>
            </a:r>
            <a:r>
              <a:rPr lang="en-US" sz="2400" dirty="0">
                <a:solidFill>
                  <a:schemeClr val="tx1"/>
                </a:solidFill>
              </a:rPr>
              <a:t>. While the solutions that SFOA and PSO found </a:t>
            </a:r>
            <a:r>
              <a:rPr lang="en-US" sz="2400" b="1" dirty="0">
                <a:solidFill>
                  <a:schemeClr val="tx1"/>
                </a:solidFill>
              </a:rPr>
              <a:t>were not significantly different</a:t>
            </a:r>
            <a:r>
              <a:rPr lang="en-US" sz="2400" dirty="0">
                <a:solidFill>
                  <a:schemeClr val="tx1"/>
                </a:solidFill>
              </a:rPr>
              <a:t>, the speed </a:t>
            </a:r>
            <a:r>
              <a:rPr lang="en-US" sz="2400" b="1" dirty="0">
                <a:solidFill>
                  <a:schemeClr val="tx1"/>
                </a:solidFill>
              </a:rPr>
              <a:t>PSO converged on that solution was approximately 100 iterations faster than SFOA</a:t>
            </a:r>
            <a:r>
              <a:rPr lang="en-US" sz="2400" dirty="0">
                <a:solidFill>
                  <a:schemeClr val="tx1"/>
                </a:solidFill>
              </a:rPr>
              <a:t>, and all 30 PSO trials were within 0.02 of the best solution while SFOA failed twice to stay within that interval. This may be because the exploration phase of PSO covers more ground quicker than SFOA which has large impacts for spatial problems.</a:t>
            </a:r>
          </a:p>
        </p:txBody>
      </p:sp>
      <p:pic>
        <p:nvPicPr>
          <p:cNvPr id="29" name="Picture 28" descr="A graph with numbers and a line&#10;&#10;AI-generated content may be incorrect.">
            <a:extLst>
              <a:ext uri="{FF2B5EF4-FFF2-40B4-BE49-F238E27FC236}">
                <a16:creationId xmlns:a16="http://schemas.microsoft.com/office/drawing/2014/main" id="{9C4FC0C1-825B-B8BF-BB02-B923CEB935B4}"/>
              </a:ext>
            </a:extLst>
          </p:cNvPr>
          <p:cNvPicPr>
            <a:picLocks noChangeAspect="1"/>
          </p:cNvPicPr>
          <p:nvPr/>
        </p:nvPicPr>
        <p:blipFill>
          <a:blip r:embed="rId6"/>
          <a:stretch>
            <a:fillRect/>
          </a:stretch>
        </p:blipFill>
        <p:spPr>
          <a:xfrm>
            <a:off x="24336766" y="3632548"/>
            <a:ext cx="7064030" cy="4206991"/>
          </a:xfrm>
          <a:prstGeom prst="rect">
            <a:avLst/>
          </a:prstGeom>
        </p:spPr>
      </p:pic>
      <p:sp>
        <p:nvSpPr>
          <p:cNvPr id="30" name="TextBox 29">
            <a:extLst>
              <a:ext uri="{FF2B5EF4-FFF2-40B4-BE49-F238E27FC236}">
                <a16:creationId xmlns:a16="http://schemas.microsoft.com/office/drawing/2014/main" id="{56DBA739-59F6-FD05-F876-93287E35831F}"/>
              </a:ext>
            </a:extLst>
          </p:cNvPr>
          <p:cNvSpPr txBox="1"/>
          <p:nvPr/>
        </p:nvSpPr>
        <p:spPr>
          <a:xfrm>
            <a:off x="23228774" y="17038215"/>
            <a:ext cx="7611106" cy="769441"/>
          </a:xfrm>
          <a:prstGeom prst="rect">
            <a:avLst/>
          </a:prstGeom>
          <a:noFill/>
        </p:spPr>
        <p:txBody>
          <a:bodyPr wrap="square" rtlCol="0">
            <a:spAutoFit/>
          </a:bodyPr>
          <a:lstStyle/>
          <a:p>
            <a:r>
              <a:rPr lang="en-US" sz="4400" b="1" dirty="0">
                <a:solidFill>
                  <a:srgbClr val="F76902"/>
                </a:solidFill>
                <a:latin typeface="Neue Haas Grotesk Text Pro" panose="020B0504020202020204" pitchFamily="34" charset="0"/>
              </a:rPr>
              <a:t>References</a:t>
            </a:r>
          </a:p>
        </p:txBody>
      </p:sp>
      <p:sp>
        <p:nvSpPr>
          <p:cNvPr id="32" name="TextBox 31">
            <a:extLst>
              <a:ext uri="{FF2B5EF4-FFF2-40B4-BE49-F238E27FC236}">
                <a16:creationId xmlns:a16="http://schemas.microsoft.com/office/drawing/2014/main" id="{60ABA871-99E3-7AE3-99E8-BB927F724A55}"/>
              </a:ext>
            </a:extLst>
          </p:cNvPr>
          <p:cNvSpPr txBox="1"/>
          <p:nvPr/>
        </p:nvSpPr>
        <p:spPr>
          <a:xfrm>
            <a:off x="23296781" y="17680557"/>
            <a:ext cx="9144000" cy="4031873"/>
          </a:xfrm>
          <a:prstGeom prst="rect">
            <a:avLst/>
          </a:prstGeom>
          <a:noFill/>
        </p:spPr>
        <p:txBody>
          <a:bodyPr wrap="square" rtlCol="0">
            <a:spAutoFit/>
          </a:bodyPr>
          <a:lstStyle/>
          <a:p>
            <a:pPr marL="285750" indent="-285750">
              <a:buFont typeface="Arial" panose="020B0604020202020204" pitchFamily="34" charset="0"/>
              <a:buChar char="•"/>
            </a:pPr>
            <a:r>
              <a:rPr lang="en-US" sz="1600" dirty="0"/>
              <a:t>Ahmad, M. F., Isa, N. A. M., Lim, W. H., &amp; Ang, K. M. (2022). Differential evolution: A recent review based on state-of-the-art works. </a:t>
            </a:r>
            <a:r>
              <a:rPr lang="en-US" sz="1600" i="1" dirty="0"/>
              <a:t>Alexandria Engineering Journal</a:t>
            </a:r>
            <a:r>
              <a:rPr lang="en-US" sz="1600" dirty="0"/>
              <a:t>, 61(5), 3831–3872. </a:t>
            </a:r>
            <a:r>
              <a:rPr lang="en-US" sz="1600" dirty="0">
                <a:hlinkClick r:id="rId7"/>
              </a:rPr>
              <a:t>https://doi.org/10.1016/j.aej.2022.07.036</a:t>
            </a:r>
            <a:endParaRPr lang="en-US" sz="1600" dirty="0"/>
          </a:p>
          <a:p>
            <a:pPr marL="285750" indent="-285750">
              <a:buFont typeface="Arial" panose="020B0604020202020204" pitchFamily="34" charset="0"/>
              <a:buChar char="•"/>
            </a:pPr>
            <a:r>
              <a:rPr lang="en-US" sz="1600" dirty="0" err="1"/>
              <a:t>Alkhalifa</a:t>
            </a:r>
            <a:r>
              <a:rPr lang="en-US" sz="1600" dirty="0"/>
              <a:t>, A. K., </a:t>
            </a:r>
            <a:r>
              <a:rPr lang="en-US" sz="1600" dirty="0" err="1"/>
              <a:t>Aljebreen</a:t>
            </a:r>
            <a:r>
              <a:rPr lang="en-US" sz="1600" dirty="0"/>
              <a:t>, M., Alanazi, R., Ahmad, N., </a:t>
            </a:r>
            <a:r>
              <a:rPr lang="en-US" sz="1600" dirty="0" err="1"/>
              <a:t>Alrusaini</a:t>
            </a:r>
            <a:r>
              <a:rPr lang="en-US" sz="1600" dirty="0"/>
              <a:t>, O., </a:t>
            </a:r>
            <a:r>
              <a:rPr lang="en-US" sz="1600" dirty="0" err="1"/>
              <a:t>Aljehane</a:t>
            </a:r>
            <a:r>
              <a:rPr lang="en-US" sz="1600" dirty="0"/>
              <a:t>, N. O., </a:t>
            </a:r>
            <a:r>
              <a:rPr lang="en-US" sz="1600" dirty="0" err="1"/>
              <a:t>Alqazzaz</a:t>
            </a:r>
            <a:r>
              <a:rPr lang="en-US" sz="1600" dirty="0"/>
              <a:t>, A., &amp; </a:t>
            </a:r>
            <a:r>
              <a:rPr lang="en-US" sz="1600" dirty="0" err="1"/>
              <a:t>Alkhiri</a:t>
            </a:r>
            <a:r>
              <a:rPr lang="en-US" sz="1600" dirty="0"/>
              <a:t>, H. (2025). Leveraging hybrid deep learning with starfish optimization algorithm-based secure mechanism for intelligent edge computing in smart cities environment. </a:t>
            </a:r>
            <a:r>
              <a:rPr lang="en-US" sz="1600" i="1" dirty="0"/>
              <a:t>Scientific Reports</a:t>
            </a:r>
            <a:r>
              <a:rPr lang="en-US" sz="1600" dirty="0"/>
              <a:t>, 15, 33069. </a:t>
            </a:r>
            <a:r>
              <a:rPr lang="en-US" sz="1600" dirty="0">
                <a:hlinkClick r:id="rId8"/>
              </a:rPr>
              <a:t>https://doi.org/10.1038/s41598-025-11608-4</a:t>
            </a:r>
            <a:endParaRPr lang="en-US" sz="1600" dirty="0"/>
          </a:p>
          <a:p>
            <a:pPr marL="285750" indent="-285750">
              <a:buFont typeface="Arial" panose="020B0604020202020204" pitchFamily="34" charset="0"/>
              <a:buChar char="•"/>
            </a:pPr>
            <a:r>
              <a:rPr lang="en-US" sz="1600" dirty="0" err="1"/>
              <a:t>Sakpere</a:t>
            </a:r>
            <a:r>
              <a:rPr lang="en-US" sz="1600" dirty="0"/>
              <a:t>, W., Yisa, F. I., Salami, A., &amp; Olaniyi, G. A. (2025). Particle swarm optimization and benchmark functions: An extensive analysis. </a:t>
            </a:r>
            <a:r>
              <a:rPr lang="en-US" sz="1600" i="1" dirty="0"/>
              <a:t>International Journal of Engineering Research in Computer Science and Engineering, 12</a:t>
            </a:r>
            <a:r>
              <a:rPr lang="en-US" sz="1600" dirty="0"/>
              <a:t>(1), 1–12.</a:t>
            </a:r>
          </a:p>
          <a:p>
            <a:pPr marL="285750" indent="-285750">
              <a:buFont typeface="Arial" panose="020B0604020202020204" pitchFamily="34" charset="0"/>
              <a:buChar char="•"/>
            </a:pPr>
            <a:r>
              <a:rPr lang="en-US" sz="1600" dirty="0"/>
              <a:t>UCI Machine Learning Repository. (n.d.). </a:t>
            </a:r>
            <a:r>
              <a:rPr lang="en-US" sz="1600" i="1" dirty="0"/>
              <a:t>Iris species</a:t>
            </a:r>
            <a:r>
              <a:rPr lang="en-US" sz="1600" dirty="0"/>
              <a:t> [Data set]. Kaggle. </a:t>
            </a:r>
            <a:r>
              <a:rPr lang="en-US" sz="1600" dirty="0">
                <a:hlinkClick r:id="rId9"/>
              </a:rPr>
              <a:t>https://www.kaggle.com/datasets/uciml/iris</a:t>
            </a:r>
            <a:endParaRPr lang="en-US" sz="1600" dirty="0"/>
          </a:p>
          <a:p>
            <a:pPr marL="285750" indent="-285750">
              <a:buFont typeface="Arial" panose="020B0604020202020204" pitchFamily="34" charset="0"/>
              <a:buChar char="•"/>
            </a:pPr>
            <a:r>
              <a:rPr lang="en-US" sz="1600" dirty="0"/>
              <a:t>Zhong, C., Li, G., Meng, Z., Li, H., Yildiz, A. R., &amp; </a:t>
            </a:r>
            <a:r>
              <a:rPr lang="en-US" sz="1600" dirty="0" err="1"/>
              <a:t>Mirjalili</a:t>
            </a:r>
            <a:r>
              <a:rPr lang="en-US" sz="1600" dirty="0"/>
              <a:t>, S. (2025). Starfish optimization algorithm (SFOA): A bio-inspired metaheuristic algorithm for global optimization compared with 100 optimizers. </a:t>
            </a:r>
            <a:r>
              <a:rPr lang="en-US" sz="1600" i="1" dirty="0"/>
              <a:t>Neural Computing and Applications</a:t>
            </a:r>
            <a:r>
              <a:rPr lang="en-US" sz="1600" dirty="0"/>
              <a:t>, 37, 3641–3683. </a:t>
            </a:r>
            <a:r>
              <a:rPr lang="en-US" sz="1600" dirty="0">
                <a:hlinkClick r:id="rId10"/>
              </a:rPr>
              <a:t>https://doi.org/10.1007/s00521-024-10694-</a:t>
            </a:r>
            <a:endParaRPr lang="en-US" sz="1600" dirty="0"/>
          </a:p>
        </p:txBody>
      </p:sp>
      <p:sp>
        <p:nvSpPr>
          <p:cNvPr id="33" name="Rectangle 32">
            <a:extLst>
              <a:ext uri="{FF2B5EF4-FFF2-40B4-BE49-F238E27FC236}">
                <a16:creationId xmlns:a16="http://schemas.microsoft.com/office/drawing/2014/main" id="{46CD7CF3-898D-58C5-5B60-231857D73667}"/>
              </a:ext>
            </a:extLst>
          </p:cNvPr>
          <p:cNvSpPr/>
          <p:nvPr/>
        </p:nvSpPr>
        <p:spPr>
          <a:xfrm>
            <a:off x="23296782" y="7938006"/>
            <a:ext cx="9143999" cy="1950124"/>
          </a:xfrm>
          <a:prstGeom prst="rect">
            <a:avLst/>
          </a:prstGeom>
          <a:solidFill>
            <a:srgbClr val="FEB57E"/>
          </a:solidFill>
          <a:ln w="38100">
            <a:solidFill>
              <a:srgbClr val="F7690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dirty="0">
                <a:solidFill>
                  <a:schemeClr val="tx1"/>
                </a:solidFill>
              </a:rPr>
              <a:t>All three algorithms achieved a 1.00 accuracy </a:t>
            </a:r>
            <a:r>
              <a:rPr lang="en-US" sz="2400" dirty="0">
                <a:solidFill>
                  <a:schemeClr val="tx1"/>
                </a:solidFill>
              </a:rPr>
              <a:t>from a baseline of 0.95 accuracy. However, DE was much faster at converging on the best parameters to achieve this while SFOA only outperformed PSO. This could be due to the </a:t>
            </a:r>
            <a:r>
              <a:rPr lang="en-US" sz="2400" b="1" dirty="0">
                <a:solidFill>
                  <a:schemeClr val="tx1"/>
                </a:solidFill>
              </a:rPr>
              <a:t>low-dimensionality of SVM optimization compared to the CO problems. </a:t>
            </a:r>
          </a:p>
        </p:txBody>
      </p:sp>
      <p:sp>
        <p:nvSpPr>
          <p:cNvPr id="34" name="TextBox 33">
            <a:extLst>
              <a:ext uri="{FF2B5EF4-FFF2-40B4-BE49-F238E27FC236}">
                <a16:creationId xmlns:a16="http://schemas.microsoft.com/office/drawing/2014/main" id="{7449D094-4001-291C-FA95-81836C28A7E8}"/>
              </a:ext>
            </a:extLst>
          </p:cNvPr>
          <p:cNvSpPr txBox="1"/>
          <p:nvPr/>
        </p:nvSpPr>
        <p:spPr>
          <a:xfrm>
            <a:off x="23296781" y="9888130"/>
            <a:ext cx="7611106" cy="923330"/>
          </a:xfrm>
          <a:prstGeom prst="rect">
            <a:avLst/>
          </a:prstGeom>
          <a:noFill/>
        </p:spPr>
        <p:txBody>
          <a:bodyPr wrap="square" rtlCol="0">
            <a:spAutoFit/>
          </a:bodyPr>
          <a:lstStyle/>
          <a:p>
            <a:r>
              <a:rPr lang="en-US" sz="5400" b="1" dirty="0">
                <a:solidFill>
                  <a:srgbClr val="F76902"/>
                </a:solidFill>
                <a:latin typeface="Neue Haas Grotesk Text Pro" panose="020B0504020202020204" pitchFamily="34" charset="0"/>
              </a:rPr>
              <a:t>Discussion</a:t>
            </a:r>
          </a:p>
        </p:txBody>
      </p:sp>
      <p:sp>
        <p:nvSpPr>
          <p:cNvPr id="36" name="TextBox 35">
            <a:extLst>
              <a:ext uri="{FF2B5EF4-FFF2-40B4-BE49-F238E27FC236}">
                <a16:creationId xmlns:a16="http://schemas.microsoft.com/office/drawing/2014/main" id="{223AEEE9-EFBA-63D4-F554-4FEC82A2AB5A}"/>
              </a:ext>
            </a:extLst>
          </p:cNvPr>
          <p:cNvSpPr txBox="1"/>
          <p:nvPr/>
        </p:nvSpPr>
        <p:spPr>
          <a:xfrm>
            <a:off x="23296781" y="10811460"/>
            <a:ext cx="9144000" cy="6370975"/>
          </a:xfrm>
          <a:prstGeom prst="rect">
            <a:avLst/>
          </a:prstGeom>
          <a:noFill/>
        </p:spPr>
        <p:txBody>
          <a:bodyPr wrap="square" rtlCol="0">
            <a:spAutoFit/>
          </a:bodyPr>
          <a:lstStyle/>
          <a:p>
            <a:pPr algn="just"/>
            <a:r>
              <a:rPr lang="en-US" sz="2400" dirty="0">
                <a:latin typeface="Neue Haas Grotesk Text Pro" panose="020B0504020202020204" pitchFamily="34" charset="0"/>
              </a:rPr>
              <a:t>Overall, </a:t>
            </a:r>
            <a:r>
              <a:rPr lang="en-US" sz="2400" b="1" dirty="0">
                <a:latin typeface="Neue Haas Grotesk Text Pro" panose="020B0504020202020204" pitchFamily="34" charset="0"/>
              </a:rPr>
              <a:t>SFOA could perform equally if not better </a:t>
            </a:r>
            <a:r>
              <a:rPr lang="en-US" sz="2400" dirty="0">
                <a:latin typeface="Neue Haas Grotesk Text Pro" panose="020B0504020202020204" pitchFamily="34" charset="0"/>
              </a:rPr>
              <a:t>than the algorithms used to compare in this project. Smooth mathematical functions appear to be its strongest application. PSO has a faster exploration technique for spatial problems and DE performs better on low-dimensional problems. However, what makes SFOA unique is its dimensional awareness. While it does not outperform either algorithm in what those techniques were designed for,  it can perform comparably while PSO or DE struggle on problems they are not designed for. While dimensionally-aware algorithms may not be as performant on problems they are not  explicitly designed for,  their use could still be justified due to the simplicity of general purpose search algorithms. Due to time constraints, this project was unable to test on a large suite of CO problems, algorithms, and classifiers with varying amounts of hyperparameters. Further research would involve testing against larger test suite and testing the parameter sensitivity of SFOA. </a:t>
            </a:r>
          </a:p>
        </p:txBody>
      </p:sp>
    </p:spTree>
    <p:extLst>
      <p:ext uri="{BB962C8B-B14F-4D97-AF65-F5344CB8AC3E}">
        <p14:creationId xmlns:p14="http://schemas.microsoft.com/office/powerpoint/2010/main" val="126670878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1085</Words>
  <Application>Microsoft Office PowerPoint</Application>
  <PresentationFormat>Custom</PresentationFormat>
  <Paragraphs>83</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Georgia</vt:lpstr>
      <vt:lpstr>Neue Haas Grotesk Text Pro</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Nicholas Boulos (RIT Student)</dc:creator>
  <cp:lastModifiedBy>Nicholas Boulos (RIT Student)</cp:lastModifiedBy>
  <cp:revision>13</cp:revision>
  <cp:lastPrinted>2025-12-15T01:31:20Z</cp:lastPrinted>
  <dcterms:created xsi:type="dcterms:W3CDTF">2025-12-10T23:35:40Z</dcterms:created>
  <dcterms:modified xsi:type="dcterms:W3CDTF">2025-12-15T08:15:07Z</dcterms:modified>
</cp:coreProperties>
</file>